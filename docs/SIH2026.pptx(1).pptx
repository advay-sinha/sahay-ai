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mo" charset="1" panose="020B0604020202020204"/>
      <p:regular r:id="rId14"/>
    </p:embeddedFont>
    <p:embeddedFont>
      <p:font typeface="Calibri (MS)" charset="1" panose="020F0502020204030204"/>
      <p:regular r:id="rId15"/>
    </p:embeddedFont>
    <p:embeddedFont>
      <p:font typeface="Arimo Bold" charset="1" panose="020B0704020202020204"/>
      <p:regular r:id="rId16"/>
    </p:embeddedFont>
    <p:embeddedFont>
      <p:font typeface="Times New Roman Bold" charset="1" panose="02020803070505020304"/>
      <p:regular r:id="rId17"/>
    </p:embeddedFont>
    <p:embeddedFont>
      <p:font typeface="Arimo Bold Italics" charset="1" panose="020B0704020202090204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5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https://drive.google.com/file/d/1pg7v9idXMvwG45T0eTxJUNVCLzW4_er9/view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ib.gov.in/Pressreleaseshare.aspx?PRID=1780741" TargetMode="External" Type="http://schemas.openxmlformats.org/officeDocument/2006/relationships/hyperlink"/><Relationship Id="rId11" Target="https://www.meity.gov.in" TargetMode="External" Type="http://schemas.openxmlformats.org/officeDocument/2006/relationships/hyperlink"/><Relationship Id="rId12" Target="https://arxiv.org/abs/2103.10730" TargetMode="External" Type="http://schemas.openxmlformats.org/officeDocument/2006/relationships/hyperlink"/><Relationship Id="rId13" Target="https://github.com/AI4Bharat/IndicConformerASR" TargetMode="External" Type="http://schemas.openxmlformats.org/officeDocument/2006/relationships/hyperlink"/><Relationship Id="rId14" Target="https://github.com/SYSTRAN/faster-whisper" TargetMode="External" Type="http://schemas.openxmlformats.org/officeDocument/2006/relationships/hyperlink"/><Relationship Id="rId15" Target="https://aclanthology.org/2022.lrec-1.627/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23.png" Type="http://schemas.openxmlformats.org/officeDocument/2006/relationships/image"/><Relationship Id="rId4" Target="../media/image5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https://doi.org/10.1016/j.jad.2024.07.015" TargetMode="External" Type="http://schemas.openxmlformats.org/officeDocument/2006/relationships/hyperlink"/><Relationship Id="rId9" Target="https://ijcert.org/index.php/ijcert/article/view/978/861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05283" y="0"/>
            <a:ext cx="13735050" cy="10306050"/>
            <a:chOff x="0" y="0"/>
            <a:chExt cx="18313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13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8313400">
                  <a:moveTo>
                    <a:pt x="0" y="0"/>
                  </a:moveTo>
                  <a:lnTo>
                    <a:pt x="18313400" y="0"/>
                  </a:lnTo>
                  <a:lnTo>
                    <a:pt x="1831340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75640" y="1267758"/>
            <a:ext cx="6976958" cy="7751502"/>
          </a:xfrm>
          <a:custGeom>
            <a:avLst/>
            <a:gdLst/>
            <a:ahLst/>
            <a:cxnLst/>
            <a:rect r="r" b="b" t="t" l="l"/>
            <a:pathLst>
              <a:path h="7751502" w="6976958">
                <a:moveTo>
                  <a:pt x="0" y="0"/>
                </a:moveTo>
                <a:lnTo>
                  <a:pt x="6976958" y="0"/>
                </a:lnTo>
                <a:lnTo>
                  <a:pt x="6976958" y="7751503"/>
                </a:lnTo>
                <a:lnTo>
                  <a:pt x="0" y="7751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28281" y="2564297"/>
            <a:ext cx="4824317" cy="5158407"/>
            <a:chOff x="0" y="0"/>
            <a:chExt cx="6432423" cy="6877876"/>
          </a:xfrm>
        </p:grpSpPr>
        <p:sp>
          <p:nvSpPr>
            <p:cNvPr name="Freeform 6" id="6" descr="Picture 4"/>
            <p:cNvSpPr/>
            <p:nvPr/>
          </p:nvSpPr>
          <p:spPr>
            <a:xfrm flipH="false" flipV="false" rot="0">
              <a:off x="0" y="0"/>
              <a:ext cx="6432423" cy="6877939"/>
            </a:xfrm>
            <a:custGeom>
              <a:avLst/>
              <a:gdLst/>
              <a:ahLst/>
              <a:cxnLst/>
              <a:rect r="r" b="b" t="t" l="l"/>
              <a:pathLst>
                <a:path h="6877939" w="6432423">
                  <a:moveTo>
                    <a:pt x="0" y="0"/>
                  </a:moveTo>
                  <a:lnTo>
                    <a:pt x="6432423" y="0"/>
                  </a:lnTo>
                  <a:lnTo>
                    <a:pt x="6432423" y="6877939"/>
                  </a:lnTo>
                  <a:lnTo>
                    <a:pt x="0" y="6877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6" b="-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01727" y="-289580"/>
            <a:ext cx="15563850" cy="3133726"/>
            <a:chOff x="0" y="0"/>
            <a:chExt cx="20751800" cy="41783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51802" cy="4178304"/>
            </a:xfrm>
            <a:custGeom>
              <a:avLst/>
              <a:gdLst/>
              <a:ahLst/>
              <a:cxnLst/>
              <a:rect r="r" b="b" t="t" l="l"/>
              <a:pathLst>
                <a:path h="4178304" w="20751802">
                  <a:moveTo>
                    <a:pt x="0" y="0"/>
                  </a:moveTo>
                  <a:lnTo>
                    <a:pt x="20751802" y="0"/>
                  </a:lnTo>
                  <a:lnTo>
                    <a:pt x="20751802" y="4178304"/>
                  </a:lnTo>
                  <a:lnTo>
                    <a:pt x="0" y="41783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773" r="0" b="-4677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751800" cy="4197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7324" y="2385892"/>
            <a:ext cx="9445484" cy="631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2"/>
              </a:lnSpc>
            </a:pP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SIH26093</a:t>
            </a: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– AI-Based Real-Time Stress &amp; Trauma Assessment</a:t>
            </a: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  MedTech / BioTech / HealthTech</a:t>
            </a: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  Software</a:t>
            </a: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–  TBA</a:t>
            </a:r>
          </a:p>
          <a:p>
            <a:pPr algn="just" marL="531400" indent="-265700" lvl="1">
              <a:lnSpc>
                <a:spcPts val="7047"/>
              </a:lnSpc>
              <a:buFont typeface="Arial"/>
              <a:buChar char="•"/>
            </a:pPr>
            <a:r>
              <a:rPr lang="en-US" b="true" sz="29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 ALT F4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60392" y="112538"/>
            <a:ext cx="3424859" cy="1561690"/>
            <a:chOff x="0" y="0"/>
            <a:chExt cx="5095660" cy="23235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95646" cy="2323592"/>
            </a:xfrm>
            <a:custGeom>
              <a:avLst/>
              <a:gdLst/>
              <a:ahLst/>
              <a:cxnLst/>
              <a:rect r="r" b="b" t="t" l="l"/>
              <a:pathLst>
                <a:path h="2323592" w="5095646">
                  <a:moveTo>
                    <a:pt x="0" y="0"/>
                  </a:moveTo>
                  <a:lnTo>
                    <a:pt x="5095646" y="0"/>
                  </a:lnTo>
                  <a:lnTo>
                    <a:pt x="5095646" y="2323592"/>
                  </a:lnTo>
                  <a:lnTo>
                    <a:pt x="0" y="232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44" t="0" r="-444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355" y="9596914"/>
            <a:ext cx="4687891" cy="422910"/>
            <a:chOff x="0" y="0"/>
            <a:chExt cx="6250521" cy="563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0520" cy="563882"/>
            </a:xfrm>
            <a:custGeom>
              <a:avLst/>
              <a:gdLst/>
              <a:ahLst/>
              <a:cxnLst/>
              <a:rect r="r" b="b" t="t" l="l"/>
              <a:pathLst>
                <a:path h="563882" w="6250520">
                  <a:moveTo>
                    <a:pt x="0" y="0"/>
                  </a:moveTo>
                  <a:lnTo>
                    <a:pt x="6250520" y="0"/>
                  </a:lnTo>
                  <a:lnTo>
                    <a:pt x="6250520" y="563882"/>
                  </a:lnTo>
                  <a:lnTo>
                    <a:pt x="0" y="5638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987" r="0" b="-16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0521" cy="582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575" y="9522619"/>
            <a:ext cx="18307050" cy="773906"/>
            <a:chOff x="0" y="0"/>
            <a:chExt cx="24409400" cy="10318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9400" cy="1031875"/>
            </a:xfrm>
            <a:custGeom>
              <a:avLst/>
              <a:gdLst/>
              <a:ahLst/>
              <a:cxnLst/>
              <a:rect r="r" b="b" t="t" l="l"/>
              <a:pathLst>
                <a:path h="1031875" w="24409400">
                  <a:moveTo>
                    <a:pt x="0" y="0"/>
                  </a:moveTo>
                  <a:lnTo>
                    <a:pt x="24409400" y="0"/>
                  </a:lnTo>
                  <a:lnTo>
                    <a:pt x="24409400" y="1031875"/>
                  </a:lnTo>
                  <a:lnTo>
                    <a:pt x="0" y="10318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7603" y="295904"/>
            <a:ext cx="2031895" cy="1375934"/>
            <a:chOff x="0" y="0"/>
            <a:chExt cx="2709193" cy="183457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58051"/>
              <a:ext cx="2709193" cy="1634816"/>
              <a:chOff x="0" y="0"/>
              <a:chExt cx="2760005" cy="1665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59964" cy="1665478"/>
              </a:xfrm>
              <a:custGeom>
                <a:avLst/>
                <a:gdLst/>
                <a:ahLst/>
                <a:cxnLst/>
                <a:rect r="r" b="b" t="t" l="l"/>
                <a:pathLst>
                  <a:path h="1665478" w="2759964">
                    <a:moveTo>
                      <a:pt x="0" y="832739"/>
                    </a:moveTo>
                    <a:cubicBezTo>
                      <a:pt x="0" y="372872"/>
                      <a:pt x="617884" y="0"/>
                      <a:pt x="1379982" y="0"/>
                    </a:cubicBezTo>
                    <a:cubicBezTo>
                      <a:pt x="2142080" y="0"/>
                      <a:pt x="2759964" y="372872"/>
                      <a:pt x="2759964" y="832739"/>
                    </a:cubicBezTo>
                    <a:cubicBezTo>
                      <a:pt x="2759964" y="1292606"/>
                      <a:pt x="2142080" y="1665478"/>
                      <a:pt x="1379982" y="1665478"/>
                    </a:cubicBezTo>
                    <a:cubicBezTo>
                      <a:pt x="617884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86234" y="0"/>
              <a:ext cx="1536725" cy="1834578"/>
              <a:chOff x="0" y="0"/>
              <a:chExt cx="1536725" cy="183457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36720" cy="1834577"/>
              </a:xfrm>
              <a:custGeom>
                <a:avLst/>
                <a:gdLst/>
                <a:ahLst/>
                <a:cxnLst/>
                <a:rect r="r" b="b" t="t" l="l"/>
                <a:pathLst>
                  <a:path h="1834577" w="1536720">
                    <a:moveTo>
                      <a:pt x="0" y="0"/>
                    </a:moveTo>
                    <a:lnTo>
                      <a:pt x="1536720" y="0"/>
                    </a:lnTo>
                    <a:lnTo>
                      <a:pt x="1536720" y="1834577"/>
                    </a:lnTo>
                    <a:lnTo>
                      <a:pt x="0" y="183457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03172" t="0" r="-103172" b="0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536725" cy="1891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ALT F4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4660392" y="112538"/>
            <a:ext cx="3424859" cy="1561690"/>
            <a:chOff x="0" y="0"/>
            <a:chExt cx="5095660" cy="23235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95646" cy="2323592"/>
            </a:xfrm>
            <a:custGeom>
              <a:avLst/>
              <a:gdLst/>
              <a:ahLst/>
              <a:cxnLst/>
              <a:rect r="r" b="b" t="t" l="l"/>
              <a:pathLst>
                <a:path h="2323592" w="5095646">
                  <a:moveTo>
                    <a:pt x="0" y="0"/>
                  </a:moveTo>
                  <a:lnTo>
                    <a:pt x="5095646" y="0"/>
                  </a:lnTo>
                  <a:lnTo>
                    <a:pt x="5095646" y="2323592"/>
                  </a:lnTo>
                  <a:lnTo>
                    <a:pt x="0" y="232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4" t="0" r="-444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4517" y="6911030"/>
            <a:ext cx="18278475" cy="3385495"/>
          </a:xfrm>
          <a:custGeom>
            <a:avLst/>
            <a:gdLst/>
            <a:ahLst/>
            <a:cxnLst/>
            <a:rect r="r" b="b" t="t" l="l"/>
            <a:pathLst>
              <a:path h="3385495" w="18278475">
                <a:moveTo>
                  <a:pt x="0" y="0"/>
                </a:moveTo>
                <a:lnTo>
                  <a:pt x="18278475" y="0"/>
                </a:lnTo>
                <a:lnTo>
                  <a:pt x="18278475" y="3385495"/>
                </a:lnTo>
                <a:lnTo>
                  <a:pt x="0" y="3385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3696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517" y="2111116"/>
            <a:ext cx="4367844" cy="4755362"/>
          </a:xfrm>
          <a:custGeom>
            <a:avLst/>
            <a:gdLst/>
            <a:ahLst/>
            <a:cxnLst/>
            <a:rect r="r" b="b" t="t" l="l"/>
            <a:pathLst>
              <a:path h="4755362" w="4367844">
                <a:moveTo>
                  <a:pt x="0" y="0"/>
                </a:moveTo>
                <a:lnTo>
                  <a:pt x="4367844" y="0"/>
                </a:lnTo>
                <a:lnTo>
                  <a:pt x="4367844" y="4755362"/>
                </a:lnTo>
                <a:lnTo>
                  <a:pt x="0" y="475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61" t="0" r="-11254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183139" y="1895095"/>
            <a:ext cx="11931247" cy="432042"/>
            <a:chOff x="0" y="0"/>
            <a:chExt cx="32210361" cy="11663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210363" cy="1177395"/>
            </a:xfrm>
            <a:custGeom>
              <a:avLst/>
              <a:gdLst/>
              <a:ahLst/>
              <a:cxnLst/>
              <a:rect r="r" b="b" t="t" l="l"/>
              <a:pathLst>
                <a:path h="1177395" w="32210363">
                  <a:moveTo>
                    <a:pt x="3535389" y="14083"/>
                  </a:moveTo>
                  <a:lnTo>
                    <a:pt x="3095516" y="19759"/>
                  </a:lnTo>
                  <a:cubicBezTo>
                    <a:pt x="2747399" y="24251"/>
                    <a:pt x="2120065" y="35071"/>
                    <a:pt x="1836557" y="41474"/>
                  </a:cubicBezTo>
                  <a:lnTo>
                    <a:pt x="1554012" y="47854"/>
                  </a:lnTo>
                  <a:cubicBezTo>
                    <a:pt x="1414425" y="51006"/>
                    <a:pt x="1167443" y="58150"/>
                    <a:pt x="1065880" y="61972"/>
                  </a:cubicBezTo>
                  <a:lnTo>
                    <a:pt x="744852" y="74055"/>
                  </a:lnTo>
                  <a:cubicBezTo>
                    <a:pt x="582875" y="80151"/>
                    <a:pt x="342480" y="92873"/>
                    <a:pt x="259646" y="99731"/>
                  </a:cubicBezTo>
                  <a:lnTo>
                    <a:pt x="129823" y="110481"/>
                  </a:lnTo>
                  <a:cubicBezTo>
                    <a:pt x="64691" y="115874"/>
                    <a:pt x="0" y="126782"/>
                    <a:pt x="0" y="132372"/>
                  </a:cubicBezTo>
                  <a:lnTo>
                    <a:pt x="0" y="1027395"/>
                  </a:lnTo>
                  <a:cubicBezTo>
                    <a:pt x="0" y="1036209"/>
                    <a:pt x="104677" y="1053087"/>
                    <a:pt x="211909" y="1061563"/>
                  </a:cubicBezTo>
                  <a:lnTo>
                    <a:pt x="317863" y="1069937"/>
                  </a:lnTo>
                  <a:cubicBezTo>
                    <a:pt x="370048" y="1074062"/>
                    <a:pt x="520927" y="1082149"/>
                    <a:pt x="615174" y="1085874"/>
                  </a:cubicBezTo>
                  <a:lnTo>
                    <a:pt x="943317" y="1098842"/>
                  </a:lnTo>
                  <a:cubicBezTo>
                    <a:pt x="1107948" y="1105348"/>
                    <a:pt x="1504501" y="1117072"/>
                    <a:pt x="1739139" y="1122371"/>
                  </a:cubicBezTo>
                  <a:lnTo>
                    <a:pt x="2141033" y="1131446"/>
                  </a:lnTo>
                  <a:cubicBezTo>
                    <a:pt x="2344398" y="1136039"/>
                    <a:pt x="2788348" y="1143601"/>
                    <a:pt x="3039758" y="1146755"/>
                  </a:cubicBezTo>
                  <a:lnTo>
                    <a:pt x="3427076" y="1151614"/>
                  </a:lnTo>
                  <a:cubicBezTo>
                    <a:pt x="3614248" y="1153962"/>
                    <a:pt x="4033681" y="1157959"/>
                    <a:pt x="4238770" y="1159348"/>
                  </a:cubicBezTo>
                  <a:lnTo>
                    <a:pt x="4732941" y="1162696"/>
                  </a:lnTo>
                  <a:cubicBezTo>
                    <a:pt x="4984730" y="1164402"/>
                    <a:pt x="5480178" y="1166063"/>
                    <a:pt x="5743051" y="1166083"/>
                  </a:cubicBezTo>
                  <a:lnTo>
                    <a:pt x="25777399" y="1177393"/>
                  </a:lnTo>
                  <a:cubicBezTo>
                    <a:pt x="26005582" y="1177548"/>
                    <a:pt x="26545440" y="1169986"/>
                    <a:pt x="26771333" y="1166044"/>
                  </a:cubicBezTo>
                  <a:lnTo>
                    <a:pt x="27018562" y="1165246"/>
                  </a:lnTo>
                  <a:cubicBezTo>
                    <a:pt x="27134744" y="1164872"/>
                    <a:pt x="27391370" y="1163503"/>
                    <a:pt x="27502709" y="1162665"/>
                  </a:cubicBezTo>
                  <a:lnTo>
                    <a:pt x="27914029" y="1159569"/>
                  </a:lnTo>
                  <a:cubicBezTo>
                    <a:pt x="28110883" y="1158088"/>
                    <a:pt x="28520978" y="1153915"/>
                    <a:pt x="28700558" y="1151568"/>
                  </a:cubicBezTo>
                  <a:lnTo>
                    <a:pt x="29183998" y="1145247"/>
                  </a:lnTo>
                  <a:cubicBezTo>
                    <a:pt x="29425562" y="1142089"/>
                    <a:pt x="29865070" y="1134464"/>
                    <a:pt x="30062441" y="1130007"/>
                  </a:cubicBezTo>
                  <a:lnTo>
                    <a:pt x="30598132" y="1117910"/>
                  </a:lnTo>
                  <a:cubicBezTo>
                    <a:pt x="30726847" y="1115003"/>
                    <a:pt x="30979194" y="1108052"/>
                    <a:pt x="31080174" y="1104631"/>
                  </a:cubicBezTo>
                  <a:lnTo>
                    <a:pt x="31186127" y="1101042"/>
                  </a:lnTo>
                  <a:cubicBezTo>
                    <a:pt x="31235331" y="1099375"/>
                    <a:pt x="31334069" y="1095346"/>
                    <a:pt x="31370470" y="1093520"/>
                  </a:cubicBezTo>
                  <a:lnTo>
                    <a:pt x="31649141" y="1079535"/>
                  </a:lnTo>
                  <a:cubicBezTo>
                    <a:pt x="31788097" y="1072562"/>
                    <a:pt x="31983787" y="1057966"/>
                    <a:pt x="32039455" y="1050424"/>
                  </a:cubicBezTo>
                  <a:lnTo>
                    <a:pt x="32124910" y="1038846"/>
                  </a:lnTo>
                  <a:cubicBezTo>
                    <a:pt x="32164592" y="1033469"/>
                    <a:pt x="32210363" y="1020980"/>
                    <a:pt x="32210363" y="1015529"/>
                  </a:cubicBezTo>
                  <a:lnTo>
                    <a:pt x="32210363" y="147656"/>
                  </a:lnTo>
                  <a:cubicBezTo>
                    <a:pt x="32210363" y="142201"/>
                    <a:pt x="32171652" y="129030"/>
                    <a:pt x="32139725" y="123623"/>
                  </a:cubicBezTo>
                  <a:lnTo>
                    <a:pt x="32104406" y="117641"/>
                  </a:lnTo>
                  <a:cubicBezTo>
                    <a:pt x="32087936" y="114852"/>
                    <a:pt x="32026554" y="108586"/>
                    <a:pt x="31989381" y="105900"/>
                  </a:cubicBezTo>
                  <a:lnTo>
                    <a:pt x="31852645" y="96018"/>
                  </a:lnTo>
                  <a:cubicBezTo>
                    <a:pt x="31785461" y="91164"/>
                    <a:pt x="31595923" y="81622"/>
                    <a:pt x="31480041" y="77260"/>
                  </a:cubicBezTo>
                  <a:lnTo>
                    <a:pt x="31174156" y="65748"/>
                  </a:lnTo>
                  <a:cubicBezTo>
                    <a:pt x="31023037" y="60060"/>
                    <a:pt x="30655546" y="49431"/>
                    <a:pt x="30447856" y="44741"/>
                  </a:cubicBezTo>
                  <a:lnTo>
                    <a:pt x="30057644" y="35929"/>
                  </a:lnTo>
                  <a:cubicBezTo>
                    <a:pt x="29859604" y="31457"/>
                    <a:pt x="29429317" y="24160"/>
                    <a:pt x="29183909" y="21112"/>
                  </a:cubicBezTo>
                  <a:lnTo>
                    <a:pt x="28719304" y="15341"/>
                  </a:lnTo>
                  <a:cubicBezTo>
                    <a:pt x="28491204" y="12508"/>
                    <a:pt x="27994304" y="7967"/>
                    <a:pt x="27743150" y="6420"/>
                  </a:cubicBezTo>
                  <a:lnTo>
                    <a:pt x="26716273" y="96"/>
                  </a:lnTo>
                  <a:cubicBezTo>
                    <a:pt x="26705889" y="32"/>
                    <a:pt x="26695509" y="0"/>
                    <a:pt x="26685125" y="0"/>
                  </a:cubicBezTo>
                  <a:lnTo>
                    <a:pt x="6244413" y="0"/>
                  </a:lnTo>
                  <a:cubicBezTo>
                    <a:pt x="5840349" y="0"/>
                    <a:pt x="5051856" y="2385"/>
                    <a:pt x="4662028" y="4785"/>
                  </a:cubicBezTo>
                  <a:lnTo>
                    <a:pt x="4273522" y="7178"/>
                  </a:lnTo>
                  <a:cubicBezTo>
                    <a:pt x="4080480" y="8367"/>
                    <a:pt x="3709117" y="11841"/>
                    <a:pt x="3535389" y="14083"/>
                  </a:cubicBezTo>
                  <a:lnTo>
                    <a:pt x="0" y="0"/>
                  </a:lnTo>
                  <a:cubicBezTo>
                    <a:pt x="0" y="0"/>
                    <a:pt x="3535389" y="14083"/>
                    <a:pt x="3535389" y="14083"/>
                  </a:cubicBezTo>
                  <a:close/>
                </a:path>
              </a:pathLst>
            </a:custGeom>
            <a:solidFill>
              <a:srgbClr val="978EA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2210361" cy="1204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real-time, multilngual AI module for early stress and trauma assessment on NHAA 14566 and the integrated portal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25736" y="2546212"/>
            <a:ext cx="2066625" cy="1891892"/>
            <a:chOff x="0" y="0"/>
            <a:chExt cx="635000" cy="581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581311"/>
            </a:xfrm>
            <a:custGeom>
              <a:avLst/>
              <a:gdLst/>
              <a:ahLst/>
              <a:cxnLst/>
              <a:rect r="r" b="b" t="t" l="l"/>
              <a:pathLst>
                <a:path h="581311" w="635000">
                  <a:moveTo>
                    <a:pt x="558800" y="0"/>
                  </a:moveTo>
                  <a:cubicBezTo>
                    <a:pt x="596900" y="0"/>
                    <a:pt x="635000" y="25400"/>
                    <a:pt x="635000" y="63500"/>
                  </a:cubicBezTo>
                  <a:lnTo>
                    <a:pt x="635000" y="378111"/>
                  </a:lnTo>
                  <a:cubicBezTo>
                    <a:pt x="635000" y="416211"/>
                    <a:pt x="596900" y="454311"/>
                    <a:pt x="558800" y="454311"/>
                  </a:cubicBezTo>
                  <a:lnTo>
                    <a:pt x="266700" y="454311"/>
                  </a:lnTo>
                  <a:lnTo>
                    <a:pt x="127000" y="581311"/>
                  </a:lnTo>
                  <a:lnTo>
                    <a:pt x="127000" y="454311"/>
                  </a:lnTo>
                  <a:lnTo>
                    <a:pt x="76200" y="454311"/>
                  </a:lnTo>
                  <a:cubicBezTo>
                    <a:pt x="38100" y="454311"/>
                    <a:pt x="0" y="416211"/>
                    <a:pt x="0" y="378111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55880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63500" y="53975"/>
              <a:ext cx="508000" cy="336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I’m scared...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 don't know 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what to 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97102" y="3323719"/>
            <a:ext cx="12229187" cy="3288470"/>
            <a:chOff x="0" y="0"/>
            <a:chExt cx="16305583" cy="438462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20221"/>
              <a:ext cx="3016312" cy="4364406"/>
              <a:chOff x="0" y="0"/>
              <a:chExt cx="595815" cy="86210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95815" cy="862105"/>
              </a:xfrm>
              <a:custGeom>
                <a:avLst/>
                <a:gdLst/>
                <a:ahLst/>
                <a:cxnLst/>
                <a:rect r="r" b="b" t="t" l="l"/>
                <a:pathLst>
                  <a:path h="862105" w="595815">
                    <a:moveTo>
                      <a:pt x="174535" y="0"/>
                    </a:moveTo>
                    <a:lnTo>
                      <a:pt x="421280" y="0"/>
                    </a:lnTo>
                    <a:cubicBezTo>
                      <a:pt x="517673" y="0"/>
                      <a:pt x="595815" y="78142"/>
                      <a:pt x="595815" y="174535"/>
                    </a:cubicBezTo>
                    <a:lnTo>
                      <a:pt x="595815" y="687570"/>
                    </a:lnTo>
                    <a:cubicBezTo>
                      <a:pt x="595815" y="783963"/>
                      <a:pt x="517673" y="862105"/>
                      <a:pt x="421280" y="862105"/>
                    </a:cubicBezTo>
                    <a:lnTo>
                      <a:pt x="174535" y="862105"/>
                    </a:lnTo>
                    <a:cubicBezTo>
                      <a:pt x="78142" y="862105"/>
                      <a:pt x="0" y="783963"/>
                      <a:pt x="0" y="687570"/>
                    </a:cubicBezTo>
                    <a:lnTo>
                      <a:pt x="0" y="174535"/>
                    </a:lnTo>
                    <a:cubicBezTo>
                      <a:pt x="0" y="78142"/>
                      <a:pt x="78142" y="0"/>
                      <a:pt x="174535" y="0"/>
                    </a:cubicBezTo>
                    <a:close/>
                  </a:path>
                </a:pathLst>
              </a:custGeom>
              <a:solidFill>
                <a:srgbClr val="F8F7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595815" cy="881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419660" y="0"/>
              <a:ext cx="2942738" cy="4384627"/>
              <a:chOff x="0" y="0"/>
              <a:chExt cx="581282" cy="86609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81282" cy="866099"/>
              </a:xfrm>
              <a:custGeom>
                <a:avLst/>
                <a:gdLst/>
                <a:ahLst/>
                <a:cxnLst/>
                <a:rect r="r" b="b" t="t" l="l"/>
                <a:pathLst>
                  <a:path h="866099" w="581282">
                    <a:moveTo>
                      <a:pt x="178898" y="0"/>
                    </a:moveTo>
                    <a:lnTo>
                      <a:pt x="402383" y="0"/>
                    </a:lnTo>
                    <a:cubicBezTo>
                      <a:pt x="501186" y="0"/>
                      <a:pt x="581282" y="80095"/>
                      <a:pt x="581282" y="178898"/>
                    </a:cubicBezTo>
                    <a:lnTo>
                      <a:pt x="581282" y="687201"/>
                    </a:lnTo>
                    <a:cubicBezTo>
                      <a:pt x="581282" y="734648"/>
                      <a:pt x="562433" y="780151"/>
                      <a:pt x="528883" y="813701"/>
                    </a:cubicBezTo>
                    <a:cubicBezTo>
                      <a:pt x="495334" y="847251"/>
                      <a:pt x="449830" y="866099"/>
                      <a:pt x="402383" y="866099"/>
                    </a:cubicBezTo>
                    <a:lnTo>
                      <a:pt x="178898" y="866099"/>
                    </a:lnTo>
                    <a:cubicBezTo>
                      <a:pt x="131451" y="866099"/>
                      <a:pt x="85948" y="847251"/>
                      <a:pt x="52398" y="813701"/>
                    </a:cubicBezTo>
                    <a:cubicBezTo>
                      <a:pt x="18848" y="780151"/>
                      <a:pt x="0" y="734648"/>
                      <a:pt x="0" y="687201"/>
                    </a:cubicBezTo>
                    <a:lnTo>
                      <a:pt x="0" y="178898"/>
                    </a:lnTo>
                    <a:cubicBezTo>
                      <a:pt x="0" y="131451"/>
                      <a:pt x="18848" y="85948"/>
                      <a:pt x="52398" y="52398"/>
                    </a:cubicBezTo>
                    <a:cubicBezTo>
                      <a:pt x="85948" y="18848"/>
                      <a:pt x="131451" y="0"/>
                      <a:pt x="178898" y="0"/>
                    </a:cubicBezTo>
                    <a:close/>
                  </a:path>
                </a:pathLst>
              </a:custGeom>
              <a:solidFill>
                <a:srgbClr val="F8F7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581282" cy="8851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8765747" y="20221"/>
              <a:ext cx="2942738" cy="4364406"/>
              <a:chOff x="0" y="0"/>
              <a:chExt cx="581282" cy="86210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81282" cy="862105"/>
              </a:xfrm>
              <a:custGeom>
                <a:avLst/>
                <a:gdLst/>
                <a:ahLst/>
                <a:cxnLst/>
                <a:rect r="r" b="b" t="t" l="l"/>
                <a:pathLst>
                  <a:path h="862105" w="581282">
                    <a:moveTo>
                      <a:pt x="178898" y="0"/>
                    </a:moveTo>
                    <a:lnTo>
                      <a:pt x="402383" y="0"/>
                    </a:lnTo>
                    <a:cubicBezTo>
                      <a:pt x="501186" y="0"/>
                      <a:pt x="581282" y="80095"/>
                      <a:pt x="581282" y="178898"/>
                    </a:cubicBezTo>
                    <a:lnTo>
                      <a:pt x="581282" y="683207"/>
                    </a:lnTo>
                    <a:cubicBezTo>
                      <a:pt x="581282" y="730653"/>
                      <a:pt x="562433" y="776157"/>
                      <a:pt x="528883" y="809707"/>
                    </a:cubicBezTo>
                    <a:cubicBezTo>
                      <a:pt x="495334" y="843257"/>
                      <a:pt x="449830" y="862105"/>
                      <a:pt x="402383" y="862105"/>
                    </a:cubicBezTo>
                    <a:lnTo>
                      <a:pt x="178898" y="862105"/>
                    </a:lnTo>
                    <a:cubicBezTo>
                      <a:pt x="131451" y="862105"/>
                      <a:pt x="85948" y="843257"/>
                      <a:pt x="52398" y="809707"/>
                    </a:cubicBezTo>
                    <a:cubicBezTo>
                      <a:pt x="18848" y="776157"/>
                      <a:pt x="0" y="730653"/>
                      <a:pt x="0" y="683207"/>
                    </a:cubicBezTo>
                    <a:lnTo>
                      <a:pt x="0" y="178898"/>
                    </a:lnTo>
                    <a:cubicBezTo>
                      <a:pt x="0" y="131451"/>
                      <a:pt x="18848" y="85948"/>
                      <a:pt x="52398" y="52398"/>
                    </a:cubicBezTo>
                    <a:cubicBezTo>
                      <a:pt x="85948" y="18848"/>
                      <a:pt x="131451" y="0"/>
                      <a:pt x="178898" y="0"/>
                    </a:cubicBezTo>
                    <a:close/>
                  </a:path>
                </a:pathLst>
              </a:custGeom>
              <a:solidFill>
                <a:srgbClr val="F8F7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581282" cy="881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3362845" y="0"/>
              <a:ext cx="2942738" cy="4384627"/>
              <a:chOff x="0" y="0"/>
              <a:chExt cx="581282" cy="8660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81282" cy="866099"/>
              </a:xfrm>
              <a:custGeom>
                <a:avLst/>
                <a:gdLst/>
                <a:ahLst/>
                <a:cxnLst/>
                <a:rect r="r" b="b" t="t" l="l"/>
                <a:pathLst>
                  <a:path h="866099" w="581282">
                    <a:moveTo>
                      <a:pt x="178898" y="0"/>
                    </a:moveTo>
                    <a:lnTo>
                      <a:pt x="402383" y="0"/>
                    </a:lnTo>
                    <a:cubicBezTo>
                      <a:pt x="501186" y="0"/>
                      <a:pt x="581282" y="80095"/>
                      <a:pt x="581282" y="178898"/>
                    </a:cubicBezTo>
                    <a:lnTo>
                      <a:pt x="581282" y="687201"/>
                    </a:lnTo>
                    <a:cubicBezTo>
                      <a:pt x="581282" y="734648"/>
                      <a:pt x="562433" y="780151"/>
                      <a:pt x="528883" y="813701"/>
                    </a:cubicBezTo>
                    <a:cubicBezTo>
                      <a:pt x="495334" y="847251"/>
                      <a:pt x="449830" y="866099"/>
                      <a:pt x="402383" y="866099"/>
                    </a:cubicBezTo>
                    <a:lnTo>
                      <a:pt x="178898" y="866099"/>
                    </a:lnTo>
                    <a:cubicBezTo>
                      <a:pt x="131451" y="866099"/>
                      <a:pt x="85948" y="847251"/>
                      <a:pt x="52398" y="813701"/>
                    </a:cubicBezTo>
                    <a:cubicBezTo>
                      <a:pt x="18848" y="780151"/>
                      <a:pt x="0" y="734648"/>
                      <a:pt x="0" y="687201"/>
                    </a:cubicBezTo>
                    <a:lnTo>
                      <a:pt x="0" y="178898"/>
                    </a:lnTo>
                    <a:cubicBezTo>
                      <a:pt x="0" y="131451"/>
                      <a:pt x="18848" y="85948"/>
                      <a:pt x="52398" y="52398"/>
                    </a:cubicBezTo>
                    <a:cubicBezTo>
                      <a:pt x="85948" y="18848"/>
                      <a:pt x="131451" y="0"/>
                      <a:pt x="178898" y="0"/>
                    </a:cubicBezTo>
                    <a:close/>
                  </a:path>
                </a:pathLst>
              </a:custGeom>
              <a:solidFill>
                <a:srgbClr val="F8F7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581282" cy="8851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130612" y="1664219"/>
              <a:ext cx="1174748" cy="683112"/>
              <a:chOff x="0" y="0"/>
              <a:chExt cx="1018028" cy="59197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18028" cy="591979"/>
              </a:xfrm>
              <a:custGeom>
                <a:avLst/>
                <a:gdLst/>
                <a:ahLst/>
                <a:cxnLst/>
                <a:rect r="r" b="b" t="t" l="l"/>
                <a:pathLst>
                  <a:path h="591979" w="1018028">
                    <a:moveTo>
                      <a:pt x="1018028" y="295990"/>
                    </a:moveTo>
                    <a:lnTo>
                      <a:pt x="611628" y="0"/>
                    </a:lnTo>
                    <a:lnTo>
                      <a:pt x="611628" y="203200"/>
                    </a:lnTo>
                    <a:lnTo>
                      <a:pt x="0" y="203200"/>
                    </a:lnTo>
                    <a:lnTo>
                      <a:pt x="0" y="388779"/>
                    </a:lnTo>
                    <a:lnTo>
                      <a:pt x="611628" y="388779"/>
                    </a:lnTo>
                    <a:lnTo>
                      <a:pt x="611628" y="591979"/>
                    </a:lnTo>
                    <a:lnTo>
                      <a:pt x="1018028" y="2959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84150"/>
                <a:ext cx="916428" cy="2046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7476698" y="1764308"/>
              <a:ext cx="1174748" cy="660581"/>
              <a:chOff x="0" y="0"/>
              <a:chExt cx="1018028" cy="57245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18028" cy="572454"/>
              </a:xfrm>
              <a:custGeom>
                <a:avLst/>
                <a:gdLst/>
                <a:ahLst/>
                <a:cxnLst/>
                <a:rect r="r" b="b" t="t" l="l"/>
                <a:pathLst>
                  <a:path h="572454" w="1018028">
                    <a:moveTo>
                      <a:pt x="1018028" y="286227"/>
                    </a:moveTo>
                    <a:lnTo>
                      <a:pt x="611628" y="0"/>
                    </a:lnTo>
                    <a:lnTo>
                      <a:pt x="611628" y="203200"/>
                    </a:lnTo>
                    <a:lnTo>
                      <a:pt x="0" y="203200"/>
                    </a:lnTo>
                    <a:lnTo>
                      <a:pt x="0" y="369254"/>
                    </a:lnTo>
                    <a:lnTo>
                      <a:pt x="611628" y="369254"/>
                    </a:lnTo>
                    <a:lnTo>
                      <a:pt x="611628" y="572454"/>
                    </a:lnTo>
                    <a:lnTo>
                      <a:pt x="1018028" y="28622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84150"/>
                <a:ext cx="916428" cy="1851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37084" y="1764308"/>
              <a:ext cx="1174748" cy="660581"/>
              <a:chOff x="0" y="0"/>
              <a:chExt cx="1018028" cy="57245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18028" cy="572454"/>
              </a:xfrm>
              <a:custGeom>
                <a:avLst/>
                <a:gdLst/>
                <a:ahLst/>
                <a:cxnLst/>
                <a:rect r="r" b="b" t="t" l="l"/>
                <a:pathLst>
                  <a:path h="572454" w="1018028">
                    <a:moveTo>
                      <a:pt x="1018028" y="286227"/>
                    </a:moveTo>
                    <a:lnTo>
                      <a:pt x="611628" y="0"/>
                    </a:lnTo>
                    <a:lnTo>
                      <a:pt x="611628" y="203200"/>
                    </a:lnTo>
                    <a:lnTo>
                      <a:pt x="0" y="203200"/>
                    </a:lnTo>
                    <a:lnTo>
                      <a:pt x="0" y="369254"/>
                    </a:lnTo>
                    <a:lnTo>
                      <a:pt x="611628" y="369254"/>
                    </a:lnTo>
                    <a:lnTo>
                      <a:pt x="611628" y="572454"/>
                    </a:lnTo>
                    <a:lnTo>
                      <a:pt x="1018028" y="28622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84150"/>
                <a:ext cx="916428" cy="1851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893746" y="247141"/>
              <a:ext cx="1155246" cy="1155246"/>
            </a:xfrm>
            <a:custGeom>
              <a:avLst/>
              <a:gdLst/>
              <a:ahLst/>
              <a:cxnLst/>
              <a:rect r="r" b="b" t="t" l="l"/>
              <a:pathLst>
                <a:path h="1155246" w="1155246">
                  <a:moveTo>
                    <a:pt x="0" y="0"/>
                  </a:moveTo>
                  <a:lnTo>
                    <a:pt x="1155246" y="0"/>
                  </a:lnTo>
                  <a:lnTo>
                    <a:pt x="1155246" y="1155246"/>
                  </a:lnTo>
                  <a:lnTo>
                    <a:pt x="0" y="1155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223612" y="194133"/>
              <a:ext cx="1261261" cy="1261261"/>
            </a:xfrm>
            <a:custGeom>
              <a:avLst/>
              <a:gdLst/>
              <a:ahLst/>
              <a:cxnLst/>
              <a:rect r="r" b="b" t="t" l="l"/>
              <a:pathLst>
                <a:path h="1261261" w="1261261">
                  <a:moveTo>
                    <a:pt x="0" y="0"/>
                  </a:moveTo>
                  <a:lnTo>
                    <a:pt x="1261261" y="0"/>
                  </a:lnTo>
                  <a:lnTo>
                    <a:pt x="1261261" y="1261262"/>
                  </a:lnTo>
                  <a:lnTo>
                    <a:pt x="0" y="1261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9606485" y="194133"/>
              <a:ext cx="1261261" cy="1261261"/>
            </a:xfrm>
            <a:custGeom>
              <a:avLst/>
              <a:gdLst/>
              <a:ahLst/>
              <a:cxnLst/>
              <a:rect r="r" b="b" t="t" l="l"/>
              <a:pathLst>
                <a:path h="1261261" w="1261261">
                  <a:moveTo>
                    <a:pt x="0" y="0"/>
                  </a:moveTo>
                  <a:lnTo>
                    <a:pt x="1261261" y="0"/>
                  </a:lnTo>
                  <a:lnTo>
                    <a:pt x="1261261" y="1261262"/>
                  </a:lnTo>
                  <a:lnTo>
                    <a:pt x="0" y="1261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4083384" y="247141"/>
              <a:ext cx="1401088" cy="1401088"/>
            </a:xfrm>
            <a:custGeom>
              <a:avLst/>
              <a:gdLst/>
              <a:ahLst/>
              <a:cxnLst/>
              <a:rect r="r" b="b" t="t" l="l"/>
              <a:pathLst>
                <a:path h="1401088" w="1401088">
                  <a:moveTo>
                    <a:pt x="0" y="0"/>
                  </a:moveTo>
                  <a:lnTo>
                    <a:pt x="1401088" y="0"/>
                  </a:lnTo>
                  <a:lnTo>
                    <a:pt x="1401088" y="1401087"/>
                  </a:lnTo>
                  <a:lnTo>
                    <a:pt x="0" y="1401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247482" y="3045831"/>
              <a:ext cx="2447774" cy="667446"/>
              <a:chOff x="0" y="0"/>
              <a:chExt cx="483511" cy="13184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83511" cy="131841"/>
              </a:xfrm>
              <a:custGeom>
                <a:avLst/>
                <a:gdLst/>
                <a:ahLst/>
                <a:cxnLst/>
                <a:rect r="r" b="b" t="t" l="l"/>
                <a:pathLst>
                  <a:path h="131841" w="483511">
                    <a:moveTo>
                      <a:pt x="59040" y="0"/>
                    </a:moveTo>
                    <a:lnTo>
                      <a:pt x="424471" y="0"/>
                    </a:lnTo>
                    <a:cubicBezTo>
                      <a:pt x="457078" y="0"/>
                      <a:pt x="483511" y="26433"/>
                      <a:pt x="483511" y="59040"/>
                    </a:cubicBezTo>
                    <a:lnTo>
                      <a:pt x="483511" y="72801"/>
                    </a:lnTo>
                    <a:cubicBezTo>
                      <a:pt x="483511" y="88460"/>
                      <a:pt x="477291" y="103477"/>
                      <a:pt x="466219" y="114549"/>
                    </a:cubicBezTo>
                    <a:cubicBezTo>
                      <a:pt x="455146" y="125621"/>
                      <a:pt x="440129" y="131841"/>
                      <a:pt x="424471" y="131841"/>
                    </a:cubicBezTo>
                    <a:lnTo>
                      <a:pt x="59040" y="131841"/>
                    </a:lnTo>
                    <a:cubicBezTo>
                      <a:pt x="26433" y="131841"/>
                      <a:pt x="0" y="105408"/>
                      <a:pt x="0" y="72801"/>
                    </a:cubicBezTo>
                    <a:lnTo>
                      <a:pt x="0" y="59040"/>
                    </a:lnTo>
                    <a:cubicBezTo>
                      <a:pt x="0" y="26433"/>
                      <a:pt x="26433" y="0"/>
                      <a:pt x="590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483511" cy="150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One conversation.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No repetition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09808" y="1718681"/>
              <a:ext cx="2677904" cy="131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5"/>
                </a:lnSpc>
              </a:pPr>
              <a:r>
                <a:rPr lang="en-US" b="true" sz="1638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VICITM SPEAKS</a:t>
              </a:r>
            </a:p>
            <a:p>
              <a:pPr algn="ctr">
                <a:lnSpc>
                  <a:spcPts val="1965"/>
                </a:lnSpc>
              </a:pPr>
              <a:r>
                <a:rPr lang="en-US" sz="163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Voice or chat in </a:t>
              </a:r>
            </a:p>
            <a:p>
              <a:pPr algn="ctr">
                <a:lnSpc>
                  <a:spcPts val="1965"/>
                </a:lnSpc>
              </a:pPr>
              <a:r>
                <a:rPr lang="en-US" sz="163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their own language</a:t>
              </a:r>
            </a:p>
            <a:p>
              <a:pPr algn="ctr">
                <a:lnSpc>
                  <a:spcPts val="1965"/>
                </a:lnSpc>
                <a:spcBef>
                  <a:spcPct val="0"/>
                </a:spcBef>
              </a:pP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581200" y="1718681"/>
              <a:ext cx="2701438" cy="1324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2"/>
                </a:lnSpc>
              </a:pPr>
              <a:r>
                <a:rPr lang="en-US" b="true" sz="1652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SAHAY-AI LISTENS</a:t>
              </a:r>
            </a:p>
            <a:p>
              <a:pPr algn="ctr">
                <a:lnSpc>
                  <a:spcPts val="1982"/>
                </a:lnSpc>
              </a:pPr>
              <a:r>
                <a:rPr lang="en-US" sz="1652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Analyses, voice, text and language</a:t>
              </a:r>
            </a:p>
            <a:p>
              <a:pPr algn="ctr">
                <a:lnSpc>
                  <a:spcPts val="1982"/>
                </a:lnSpc>
                <a:spcBef>
                  <a:spcPct val="0"/>
                </a:spcBef>
              </a:pP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8981647" y="1654694"/>
              <a:ext cx="2587906" cy="1573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9"/>
                </a:lnSpc>
              </a:pPr>
              <a:r>
                <a:rPr lang="en-US" b="true" sz="1582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 ASSESSES</a:t>
              </a:r>
            </a:p>
            <a:p>
              <a:pPr algn="ctr">
                <a:lnSpc>
                  <a:spcPts val="1899"/>
                </a:lnSpc>
              </a:pPr>
              <a:r>
                <a:rPr lang="en-US" sz="1582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Generates Stress Vulnerability Index </a:t>
              </a:r>
            </a:p>
            <a:p>
              <a:pPr algn="ctr">
                <a:lnSpc>
                  <a:spcPts val="1899"/>
                </a:lnSpc>
              </a:pPr>
              <a:r>
                <a:rPr lang="en-US" sz="1582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(SVI)</a:t>
              </a:r>
            </a:p>
            <a:p>
              <a:pPr algn="ctr">
                <a:lnSpc>
                  <a:spcPts val="1899"/>
                </a:lnSpc>
                <a:spcBef>
                  <a:spcPct val="0"/>
                </a:spcBef>
              </a:pP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3480133" y="1728206"/>
              <a:ext cx="2743586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7"/>
                </a:lnSpc>
              </a:pPr>
              <a:r>
                <a:rPr lang="en-US" b="true" sz="1556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HUMAN RESPONSE</a:t>
              </a:r>
            </a:p>
            <a:p>
              <a:pPr algn="ctr">
                <a:lnSpc>
                  <a:spcPts val="1867"/>
                </a:lnSpc>
              </a:pPr>
              <a:r>
                <a:rPr lang="en-US" sz="1556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Consellors, legal, medical, police support</a:t>
              </a:r>
            </a:p>
            <a:p>
              <a:pPr algn="ctr">
                <a:lnSpc>
                  <a:spcPts val="1867"/>
                </a:lnSpc>
                <a:spcBef>
                  <a:spcPct val="0"/>
                </a:spcBef>
              </a:pP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4630355" y="3045831"/>
              <a:ext cx="2447774" cy="667446"/>
              <a:chOff x="0" y="0"/>
              <a:chExt cx="483511" cy="13184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83511" cy="131841"/>
              </a:xfrm>
              <a:custGeom>
                <a:avLst/>
                <a:gdLst/>
                <a:ahLst/>
                <a:cxnLst/>
                <a:rect r="r" b="b" t="t" l="l"/>
                <a:pathLst>
                  <a:path h="131841" w="483511">
                    <a:moveTo>
                      <a:pt x="59040" y="0"/>
                    </a:moveTo>
                    <a:lnTo>
                      <a:pt x="424471" y="0"/>
                    </a:lnTo>
                    <a:cubicBezTo>
                      <a:pt x="457078" y="0"/>
                      <a:pt x="483511" y="26433"/>
                      <a:pt x="483511" y="59040"/>
                    </a:cubicBezTo>
                    <a:lnTo>
                      <a:pt x="483511" y="72801"/>
                    </a:lnTo>
                    <a:cubicBezTo>
                      <a:pt x="483511" y="88460"/>
                      <a:pt x="477291" y="103477"/>
                      <a:pt x="466219" y="114549"/>
                    </a:cubicBezTo>
                    <a:cubicBezTo>
                      <a:pt x="455146" y="125621"/>
                      <a:pt x="440129" y="131841"/>
                      <a:pt x="424471" y="131841"/>
                    </a:cubicBezTo>
                    <a:lnTo>
                      <a:pt x="59040" y="131841"/>
                    </a:lnTo>
                    <a:cubicBezTo>
                      <a:pt x="26433" y="131841"/>
                      <a:pt x="0" y="105408"/>
                      <a:pt x="0" y="72801"/>
                    </a:cubicBezTo>
                    <a:lnTo>
                      <a:pt x="0" y="59040"/>
                    </a:lnTo>
                    <a:cubicBezTo>
                      <a:pt x="0" y="26433"/>
                      <a:pt x="26433" y="0"/>
                      <a:pt x="590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483511" cy="150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Detects stress and trauma signals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9051713" y="3045831"/>
              <a:ext cx="2447774" cy="667446"/>
              <a:chOff x="0" y="0"/>
              <a:chExt cx="483511" cy="131841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483511" cy="131841"/>
              </a:xfrm>
              <a:custGeom>
                <a:avLst/>
                <a:gdLst/>
                <a:ahLst/>
                <a:cxnLst/>
                <a:rect r="r" b="b" t="t" l="l"/>
                <a:pathLst>
                  <a:path h="131841" w="483511">
                    <a:moveTo>
                      <a:pt x="59040" y="0"/>
                    </a:moveTo>
                    <a:lnTo>
                      <a:pt x="424471" y="0"/>
                    </a:lnTo>
                    <a:cubicBezTo>
                      <a:pt x="457078" y="0"/>
                      <a:pt x="483511" y="26433"/>
                      <a:pt x="483511" y="59040"/>
                    </a:cubicBezTo>
                    <a:lnTo>
                      <a:pt x="483511" y="72801"/>
                    </a:lnTo>
                    <a:cubicBezTo>
                      <a:pt x="483511" y="88460"/>
                      <a:pt x="477291" y="103477"/>
                      <a:pt x="466219" y="114549"/>
                    </a:cubicBezTo>
                    <a:cubicBezTo>
                      <a:pt x="455146" y="125621"/>
                      <a:pt x="440129" y="131841"/>
                      <a:pt x="424471" y="131841"/>
                    </a:cubicBezTo>
                    <a:lnTo>
                      <a:pt x="59040" y="131841"/>
                    </a:lnTo>
                    <a:cubicBezTo>
                      <a:pt x="26433" y="131841"/>
                      <a:pt x="0" y="105408"/>
                      <a:pt x="0" y="72801"/>
                    </a:cubicBezTo>
                    <a:lnTo>
                      <a:pt x="0" y="59040"/>
                    </a:lnTo>
                    <a:cubicBezTo>
                      <a:pt x="0" y="26433"/>
                      <a:pt x="26433" y="0"/>
                      <a:pt x="590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483511" cy="150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Explaniable insights 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with evidence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3664284" y="3045831"/>
              <a:ext cx="2447774" cy="667446"/>
              <a:chOff x="0" y="0"/>
              <a:chExt cx="483511" cy="131841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83511" cy="131841"/>
              </a:xfrm>
              <a:custGeom>
                <a:avLst/>
                <a:gdLst/>
                <a:ahLst/>
                <a:cxnLst/>
                <a:rect r="r" b="b" t="t" l="l"/>
                <a:pathLst>
                  <a:path h="131841" w="483511">
                    <a:moveTo>
                      <a:pt x="59040" y="0"/>
                    </a:moveTo>
                    <a:lnTo>
                      <a:pt x="424471" y="0"/>
                    </a:lnTo>
                    <a:cubicBezTo>
                      <a:pt x="457078" y="0"/>
                      <a:pt x="483511" y="26433"/>
                      <a:pt x="483511" y="59040"/>
                    </a:cubicBezTo>
                    <a:lnTo>
                      <a:pt x="483511" y="72801"/>
                    </a:lnTo>
                    <a:cubicBezTo>
                      <a:pt x="483511" y="88460"/>
                      <a:pt x="477291" y="103477"/>
                      <a:pt x="466219" y="114549"/>
                    </a:cubicBezTo>
                    <a:cubicBezTo>
                      <a:pt x="455146" y="125621"/>
                      <a:pt x="440129" y="131841"/>
                      <a:pt x="424471" y="131841"/>
                    </a:cubicBezTo>
                    <a:lnTo>
                      <a:pt x="59040" y="131841"/>
                    </a:lnTo>
                    <a:cubicBezTo>
                      <a:pt x="26433" y="131841"/>
                      <a:pt x="0" y="105408"/>
                      <a:pt x="0" y="72801"/>
                    </a:cubicBezTo>
                    <a:lnTo>
                      <a:pt x="0" y="59040"/>
                    </a:lnTo>
                    <a:cubicBezTo>
                      <a:pt x="0" y="26433"/>
                      <a:pt x="26433" y="0"/>
                      <a:pt x="5904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483511" cy="150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Faster, more 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empathetic support.</a:t>
                </a:r>
              </a:p>
            </p:txBody>
          </p:sp>
        </p:grpSp>
      </p:grpSp>
      <p:grpSp>
        <p:nvGrpSpPr>
          <p:cNvPr name="Group 65" id="65"/>
          <p:cNvGrpSpPr/>
          <p:nvPr/>
        </p:nvGrpSpPr>
        <p:grpSpPr>
          <a:xfrm rot="0">
            <a:off x="-42862" y="9477297"/>
            <a:ext cx="18307050" cy="809703"/>
            <a:chOff x="0" y="0"/>
            <a:chExt cx="24409400" cy="10796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409400" cy="1079603"/>
            </a:xfrm>
            <a:custGeom>
              <a:avLst/>
              <a:gdLst/>
              <a:ahLst/>
              <a:cxnLst/>
              <a:rect r="r" b="b" t="t" l="l"/>
              <a:pathLst>
                <a:path h="1079603" w="24409400">
                  <a:moveTo>
                    <a:pt x="0" y="0"/>
                  </a:moveTo>
                  <a:lnTo>
                    <a:pt x="24409400" y="0"/>
                  </a:lnTo>
                  <a:lnTo>
                    <a:pt x="24409400" y="1079603"/>
                  </a:lnTo>
                  <a:lnTo>
                    <a:pt x="0" y="1079603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-19050" y="9258300"/>
            <a:ext cx="18307050" cy="869083"/>
            <a:chOff x="0" y="0"/>
            <a:chExt cx="24409400" cy="115877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409400" cy="1158777"/>
            </a:xfrm>
            <a:custGeom>
              <a:avLst/>
              <a:gdLst/>
              <a:ahLst/>
              <a:cxnLst/>
              <a:rect r="r" b="b" t="t" l="l"/>
              <a:pathLst>
                <a:path h="1158777" w="24409400">
                  <a:moveTo>
                    <a:pt x="0" y="0"/>
                  </a:moveTo>
                  <a:lnTo>
                    <a:pt x="24409400" y="0"/>
                  </a:lnTo>
                  <a:lnTo>
                    <a:pt x="24409400" y="1158777"/>
                  </a:lnTo>
                  <a:lnTo>
                    <a:pt x="0" y="1158777"/>
                  </a:lnTo>
                  <a:close/>
                </a:path>
              </a:pathLst>
            </a:custGeom>
            <a:blipFill>
              <a:blip r:embed="rId10"/>
              <a:stretch>
                <a:fillRect l="0" t="-287171" r="0" b="-314549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6467433" y="267329"/>
            <a:ext cx="407331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SAHAY-AI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680327" y="1079779"/>
            <a:ext cx="832194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5E17E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- Based Real-Time Stress &amp; Trauma Assessment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311842" y="1483728"/>
            <a:ext cx="705891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Listening. Understanding. Enabling Safer Tomorrows.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594092" y="2563470"/>
            <a:ext cx="58199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FROM VOICE TO </a:t>
            </a:r>
            <a:r>
              <a:rPr lang="en-US" b="true" sz="3499">
                <a:solidFill>
                  <a:srgbClr val="5E17EB"/>
                </a:solidFill>
                <a:latin typeface="Arimo Bold"/>
                <a:ea typeface="Arimo Bold"/>
                <a:cs typeface="Arimo Bold"/>
                <a:sym typeface="Arimo Bold"/>
              </a:rPr>
              <a:t>SUPPORT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355" y="9596914"/>
            <a:ext cx="4687891" cy="422910"/>
            <a:chOff x="0" y="0"/>
            <a:chExt cx="6250521" cy="563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0520" cy="563882"/>
            </a:xfrm>
            <a:custGeom>
              <a:avLst/>
              <a:gdLst/>
              <a:ahLst/>
              <a:cxnLst/>
              <a:rect r="r" b="b" t="t" l="l"/>
              <a:pathLst>
                <a:path h="563882" w="6250520">
                  <a:moveTo>
                    <a:pt x="0" y="0"/>
                  </a:moveTo>
                  <a:lnTo>
                    <a:pt x="6250520" y="0"/>
                  </a:lnTo>
                  <a:lnTo>
                    <a:pt x="6250520" y="563882"/>
                  </a:lnTo>
                  <a:lnTo>
                    <a:pt x="0" y="5638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987" r="0" b="-16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0521" cy="582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-80962"/>
            <a:ext cx="16478250" cy="1733550"/>
            <a:chOff x="0" y="0"/>
            <a:chExt cx="21971000" cy="231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1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971000">
                  <a:moveTo>
                    <a:pt x="0" y="0"/>
                  </a:moveTo>
                  <a:lnTo>
                    <a:pt x="21971000" y="0"/>
                  </a:lnTo>
                  <a:lnTo>
                    <a:pt x="219710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214" r="0" b="-1352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71000" cy="2339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7603" y="295904"/>
            <a:ext cx="2031895" cy="1375934"/>
            <a:chOff x="0" y="0"/>
            <a:chExt cx="2709193" cy="183457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58051"/>
              <a:ext cx="2709193" cy="1634816"/>
              <a:chOff x="0" y="0"/>
              <a:chExt cx="2760005" cy="166547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59964" cy="1665478"/>
              </a:xfrm>
              <a:custGeom>
                <a:avLst/>
                <a:gdLst/>
                <a:ahLst/>
                <a:cxnLst/>
                <a:rect r="r" b="b" t="t" l="l"/>
                <a:pathLst>
                  <a:path h="1665478" w="2759964">
                    <a:moveTo>
                      <a:pt x="0" y="832739"/>
                    </a:moveTo>
                    <a:cubicBezTo>
                      <a:pt x="0" y="372872"/>
                      <a:pt x="617884" y="0"/>
                      <a:pt x="1379982" y="0"/>
                    </a:cubicBezTo>
                    <a:cubicBezTo>
                      <a:pt x="2142080" y="0"/>
                      <a:pt x="2759964" y="372872"/>
                      <a:pt x="2759964" y="832739"/>
                    </a:cubicBezTo>
                    <a:cubicBezTo>
                      <a:pt x="2759964" y="1292606"/>
                      <a:pt x="2142080" y="1665478"/>
                      <a:pt x="1379982" y="1665478"/>
                    </a:cubicBezTo>
                    <a:cubicBezTo>
                      <a:pt x="617884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586234" y="0"/>
              <a:ext cx="1536725" cy="1834578"/>
              <a:chOff x="0" y="0"/>
              <a:chExt cx="1536725" cy="183457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36720" cy="1834577"/>
              </a:xfrm>
              <a:custGeom>
                <a:avLst/>
                <a:gdLst/>
                <a:ahLst/>
                <a:cxnLst/>
                <a:rect r="r" b="b" t="t" l="l"/>
                <a:pathLst>
                  <a:path h="1834577" w="1536720">
                    <a:moveTo>
                      <a:pt x="0" y="0"/>
                    </a:moveTo>
                    <a:lnTo>
                      <a:pt x="1536720" y="0"/>
                    </a:lnTo>
                    <a:lnTo>
                      <a:pt x="1536720" y="1834577"/>
                    </a:lnTo>
                    <a:lnTo>
                      <a:pt x="0" y="183457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03172" t="0" r="-103172" b="0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1536725" cy="1891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ALT F4</a:t>
                </a: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582694" y="2751157"/>
            <a:ext cx="593720" cy="143572"/>
          </a:xfrm>
          <a:custGeom>
            <a:avLst/>
            <a:gdLst/>
            <a:ahLst/>
            <a:cxnLst/>
            <a:rect r="r" b="b" t="t" l="l"/>
            <a:pathLst>
              <a:path h="143572" w="593720">
                <a:moveTo>
                  <a:pt x="0" y="0"/>
                </a:moveTo>
                <a:lnTo>
                  <a:pt x="593720" y="0"/>
                </a:lnTo>
                <a:lnTo>
                  <a:pt x="593720" y="143572"/>
                </a:lnTo>
                <a:lnTo>
                  <a:pt x="0" y="143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3408" r="0" b="-10340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906" y="1652588"/>
            <a:ext cx="18064188" cy="8340151"/>
          </a:xfrm>
          <a:custGeom>
            <a:avLst/>
            <a:gdLst/>
            <a:ahLst/>
            <a:cxnLst/>
            <a:rect r="r" b="b" t="t" l="l"/>
            <a:pathLst>
              <a:path h="8340151" w="18064188">
                <a:moveTo>
                  <a:pt x="0" y="0"/>
                </a:moveTo>
                <a:lnTo>
                  <a:pt x="18064188" y="0"/>
                </a:lnTo>
                <a:lnTo>
                  <a:pt x="18064188" y="8340150"/>
                </a:lnTo>
                <a:lnTo>
                  <a:pt x="0" y="834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87" r="0" b="-514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11906" y="18215"/>
            <a:ext cx="18288000" cy="10268785"/>
          </a:xfrm>
          <a:custGeom>
            <a:avLst/>
            <a:gdLst/>
            <a:ahLst/>
            <a:cxnLst/>
            <a:rect r="r" b="b" t="t" l="l"/>
            <a:pathLst>
              <a:path h="10268785" w="18288000">
                <a:moveTo>
                  <a:pt x="0" y="0"/>
                </a:moveTo>
                <a:lnTo>
                  <a:pt x="18288000" y="0"/>
                </a:lnTo>
                <a:lnTo>
                  <a:pt x="18288000" y="10268785"/>
                </a:lnTo>
                <a:lnTo>
                  <a:pt x="0" y="10268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3" r="0" b="-533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823250" y="18215"/>
            <a:ext cx="4352844" cy="1223433"/>
            <a:chOff x="0" y="0"/>
            <a:chExt cx="1146428" cy="322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428" cy="322221"/>
            </a:xfrm>
            <a:custGeom>
              <a:avLst/>
              <a:gdLst/>
              <a:ahLst/>
              <a:cxnLst/>
              <a:rect r="r" b="b" t="t" l="l"/>
              <a:pathLst>
                <a:path h="322221" w="1146428">
                  <a:moveTo>
                    <a:pt x="0" y="0"/>
                  </a:moveTo>
                  <a:lnTo>
                    <a:pt x="1146428" y="0"/>
                  </a:lnTo>
                  <a:lnTo>
                    <a:pt x="1146428" y="322221"/>
                  </a:lnTo>
                  <a:lnTo>
                    <a:pt x="0" y="322221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146428" cy="341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00166" y="18215"/>
            <a:ext cx="2775929" cy="1265787"/>
            <a:chOff x="0" y="0"/>
            <a:chExt cx="5095660" cy="23235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95646" cy="2323592"/>
            </a:xfrm>
            <a:custGeom>
              <a:avLst/>
              <a:gdLst/>
              <a:ahLst/>
              <a:cxnLst/>
              <a:rect r="r" b="b" t="t" l="l"/>
              <a:pathLst>
                <a:path h="2323592" w="5095646">
                  <a:moveTo>
                    <a:pt x="0" y="0"/>
                  </a:moveTo>
                  <a:lnTo>
                    <a:pt x="5095646" y="0"/>
                  </a:lnTo>
                  <a:lnTo>
                    <a:pt x="5095646" y="2323592"/>
                  </a:lnTo>
                  <a:lnTo>
                    <a:pt x="0" y="232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44" t="0" r="-44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355" y="9596914"/>
            <a:ext cx="4687891" cy="422910"/>
            <a:chOff x="0" y="0"/>
            <a:chExt cx="6250521" cy="563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0520" cy="563882"/>
            </a:xfrm>
            <a:custGeom>
              <a:avLst/>
              <a:gdLst/>
              <a:ahLst/>
              <a:cxnLst/>
              <a:rect r="r" b="b" t="t" l="l"/>
              <a:pathLst>
                <a:path h="563882" w="6250520">
                  <a:moveTo>
                    <a:pt x="0" y="0"/>
                  </a:moveTo>
                  <a:lnTo>
                    <a:pt x="6250520" y="0"/>
                  </a:lnTo>
                  <a:lnTo>
                    <a:pt x="6250520" y="563882"/>
                  </a:lnTo>
                  <a:lnTo>
                    <a:pt x="0" y="5638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987" r="0" b="-16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0521" cy="582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-80962"/>
            <a:ext cx="16478250" cy="1733550"/>
            <a:chOff x="0" y="0"/>
            <a:chExt cx="21971000" cy="231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1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971000">
                  <a:moveTo>
                    <a:pt x="0" y="0"/>
                  </a:moveTo>
                  <a:lnTo>
                    <a:pt x="21971000" y="0"/>
                  </a:lnTo>
                  <a:lnTo>
                    <a:pt x="219710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214" r="0" b="-1352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71000" cy="2339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60133" y="757237"/>
            <a:ext cx="953010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</a:t>
            </a:r>
            <a:r>
              <a:rPr lang="en-US" b="true" sz="4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 AND </a:t>
            </a:r>
            <a:r>
              <a:rPr lang="en-US" b="true" sz="4999">
                <a:solidFill>
                  <a:srgbClr val="5E17E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2194255"/>
            <a:ext cx="9025184" cy="7490218"/>
            <a:chOff x="0" y="0"/>
            <a:chExt cx="12033579" cy="99869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362" y="154235"/>
              <a:ext cx="5948911" cy="9832722"/>
            </a:xfrm>
            <a:custGeom>
              <a:avLst/>
              <a:gdLst/>
              <a:ahLst/>
              <a:cxnLst/>
              <a:rect r="r" b="b" t="t" l="l"/>
              <a:pathLst>
                <a:path h="9832722" w="5948911">
                  <a:moveTo>
                    <a:pt x="0" y="0"/>
                  </a:moveTo>
                  <a:lnTo>
                    <a:pt x="5948911" y="0"/>
                  </a:lnTo>
                  <a:lnTo>
                    <a:pt x="5948911" y="9832722"/>
                  </a:lnTo>
                  <a:lnTo>
                    <a:pt x="0" y="9832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1" t="-369" r="-53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7636" cy="9813173"/>
            </a:xfrm>
            <a:custGeom>
              <a:avLst/>
              <a:gdLst/>
              <a:ahLst/>
              <a:cxnLst/>
              <a:rect r="r" b="b" t="t" l="l"/>
              <a:pathLst>
                <a:path h="9813173" w="5967636">
                  <a:moveTo>
                    <a:pt x="0" y="0"/>
                  </a:moveTo>
                  <a:lnTo>
                    <a:pt x="5967636" y="0"/>
                  </a:lnTo>
                  <a:lnTo>
                    <a:pt x="5967636" y="9813173"/>
                  </a:lnTo>
                  <a:lnTo>
                    <a:pt x="0" y="9813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6175902" y="982492"/>
              <a:ext cx="3428901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Proven Technology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175902" y="1426992"/>
              <a:ext cx="5536009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Multilingual ASR, transformer-based NLP and 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rule-based safety checks are available </a:t>
              </a:r>
            </a:p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 modular components.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175902" y="3065292"/>
              <a:ext cx="2628404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Operational Fit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75902" y="3553653"/>
              <a:ext cx="5029299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Adapter APIs connect approved channels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to the responder dashboard without</a:t>
              </a:r>
            </a:p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replacing existing authority or procedures.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75902" y="7449672"/>
              <a:ext cx="3209131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Privacy by Design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175803" y="7932272"/>
              <a:ext cx="5029398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Consent, data minimisation, encryption, 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role-based access, retention controls and </a:t>
              </a:r>
            </a:p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audit logs are built in from the start.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175902" y="5300197"/>
              <a:ext cx="1438077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Viabilty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175902" y="5811372"/>
              <a:ext cx="5857677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service-based architecture supports languages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and model upgrades while scaling across users, </a:t>
              </a:r>
            </a:p>
            <a:p>
              <a:pPr algn="l">
                <a:lnSpc>
                  <a:spcPts val="192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regions and support resources.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356601" y="93492"/>
              <a:ext cx="6248202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WHY THE IDEA IS FEASIBLE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89890" y="2247063"/>
            <a:ext cx="9372664" cy="7662509"/>
            <a:chOff x="0" y="0"/>
            <a:chExt cx="12496886" cy="102166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317500"/>
              <a:ext cx="4761893" cy="9899178"/>
            </a:xfrm>
            <a:custGeom>
              <a:avLst/>
              <a:gdLst/>
              <a:ahLst/>
              <a:cxnLst/>
              <a:rect r="r" b="b" t="t" l="l"/>
              <a:pathLst>
                <a:path h="9899178" w="4761893">
                  <a:moveTo>
                    <a:pt x="0" y="0"/>
                  </a:moveTo>
                  <a:lnTo>
                    <a:pt x="4761893" y="0"/>
                  </a:lnTo>
                  <a:lnTo>
                    <a:pt x="4761893" y="9899178"/>
                  </a:lnTo>
                  <a:lnTo>
                    <a:pt x="0" y="9899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273" t="-14533" r="-96824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4710255" y="863600"/>
              <a:ext cx="7786631" cy="1419493"/>
              <a:chOff x="0" y="0"/>
              <a:chExt cx="1538100" cy="28039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538100" cy="280394"/>
              </a:xfrm>
              <a:custGeom>
                <a:avLst/>
                <a:gdLst/>
                <a:ahLst/>
                <a:cxnLst/>
                <a:rect r="r" b="b" t="t" l="l"/>
                <a:pathLst>
                  <a:path h="280394" w="1538100">
                    <a:moveTo>
                      <a:pt x="67610" y="0"/>
                    </a:moveTo>
                    <a:lnTo>
                      <a:pt x="1470490" y="0"/>
                    </a:lnTo>
                    <a:cubicBezTo>
                      <a:pt x="1507830" y="0"/>
                      <a:pt x="1538100" y="30270"/>
                      <a:pt x="1538100" y="67610"/>
                    </a:cubicBezTo>
                    <a:lnTo>
                      <a:pt x="1538100" y="212784"/>
                    </a:lnTo>
                    <a:cubicBezTo>
                      <a:pt x="1538100" y="230715"/>
                      <a:pt x="1530977" y="247912"/>
                      <a:pt x="1518298" y="260591"/>
                    </a:cubicBezTo>
                    <a:cubicBezTo>
                      <a:pt x="1505618" y="273271"/>
                      <a:pt x="1488422" y="280394"/>
                      <a:pt x="1470490" y="280394"/>
                    </a:cubicBezTo>
                    <a:lnTo>
                      <a:pt x="67610" y="280394"/>
                    </a:lnTo>
                    <a:cubicBezTo>
                      <a:pt x="30270" y="280394"/>
                      <a:pt x="0" y="250124"/>
                      <a:pt x="0" y="212784"/>
                    </a:cubicBezTo>
                    <a:lnTo>
                      <a:pt x="0" y="67610"/>
                    </a:lnTo>
                    <a:cubicBezTo>
                      <a:pt x="0" y="49678"/>
                      <a:pt x="7123" y="32482"/>
                      <a:pt x="19802" y="19802"/>
                    </a:cubicBezTo>
                    <a:cubicBezTo>
                      <a:pt x="32482" y="7123"/>
                      <a:pt x="49678" y="0"/>
                      <a:pt x="67610" y="0"/>
                    </a:cubicBezTo>
                    <a:close/>
                  </a:path>
                </a:pathLst>
              </a:custGeom>
              <a:solidFill>
                <a:srgbClr val="D8C59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1538100" cy="299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422878" y="2479559"/>
              <a:ext cx="7721727" cy="1425920"/>
              <a:chOff x="0" y="0"/>
              <a:chExt cx="1525279" cy="28166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525279" cy="281663"/>
              </a:xfrm>
              <a:custGeom>
                <a:avLst/>
                <a:gdLst/>
                <a:ahLst/>
                <a:cxnLst/>
                <a:rect r="r" b="b" t="t" l="l"/>
                <a:pathLst>
                  <a:path h="281663" w="1525279">
                    <a:moveTo>
                      <a:pt x="68178" y="0"/>
                    </a:moveTo>
                    <a:lnTo>
                      <a:pt x="1457102" y="0"/>
                    </a:lnTo>
                    <a:cubicBezTo>
                      <a:pt x="1494755" y="0"/>
                      <a:pt x="1525279" y="30524"/>
                      <a:pt x="1525279" y="68178"/>
                    </a:cubicBezTo>
                    <a:lnTo>
                      <a:pt x="1525279" y="213485"/>
                    </a:lnTo>
                    <a:cubicBezTo>
                      <a:pt x="1525279" y="251139"/>
                      <a:pt x="1494755" y="281663"/>
                      <a:pt x="1457102" y="281663"/>
                    </a:cubicBezTo>
                    <a:lnTo>
                      <a:pt x="68178" y="281663"/>
                    </a:lnTo>
                    <a:cubicBezTo>
                      <a:pt x="30524" y="281663"/>
                      <a:pt x="0" y="251139"/>
                      <a:pt x="0" y="213485"/>
                    </a:cubicBezTo>
                    <a:lnTo>
                      <a:pt x="0" y="68178"/>
                    </a:lnTo>
                    <a:cubicBezTo>
                      <a:pt x="0" y="30524"/>
                      <a:pt x="30524" y="0"/>
                      <a:pt x="68178" y="0"/>
                    </a:cubicBezTo>
                    <a:close/>
                  </a:path>
                </a:pathLst>
              </a:custGeom>
              <a:solidFill>
                <a:srgbClr val="D8C59A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1525279" cy="300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710255" y="4101946"/>
              <a:ext cx="7786631" cy="1455582"/>
              <a:chOff x="0" y="0"/>
              <a:chExt cx="1538100" cy="28752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538100" cy="287522"/>
              </a:xfrm>
              <a:custGeom>
                <a:avLst/>
                <a:gdLst/>
                <a:ahLst/>
                <a:cxnLst/>
                <a:rect r="r" b="b" t="t" l="l"/>
                <a:pathLst>
                  <a:path h="287522" w="1538100">
                    <a:moveTo>
                      <a:pt x="67610" y="0"/>
                    </a:moveTo>
                    <a:lnTo>
                      <a:pt x="1470490" y="0"/>
                    </a:lnTo>
                    <a:cubicBezTo>
                      <a:pt x="1507830" y="0"/>
                      <a:pt x="1538100" y="30270"/>
                      <a:pt x="1538100" y="67610"/>
                    </a:cubicBezTo>
                    <a:lnTo>
                      <a:pt x="1538100" y="219913"/>
                    </a:lnTo>
                    <a:cubicBezTo>
                      <a:pt x="1538100" y="237844"/>
                      <a:pt x="1530977" y="255041"/>
                      <a:pt x="1518298" y="267720"/>
                    </a:cubicBezTo>
                    <a:cubicBezTo>
                      <a:pt x="1505618" y="280399"/>
                      <a:pt x="1488422" y="287522"/>
                      <a:pt x="1470490" y="287522"/>
                    </a:cubicBezTo>
                    <a:lnTo>
                      <a:pt x="67610" y="287522"/>
                    </a:lnTo>
                    <a:cubicBezTo>
                      <a:pt x="49678" y="287522"/>
                      <a:pt x="32482" y="280399"/>
                      <a:pt x="19802" y="267720"/>
                    </a:cubicBezTo>
                    <a:cubicBezTo>
                      <a:pt x="7123" y="255041"/>
                      <a:pt x="0" y="237844"/>
                      <a:pt x="0" y="219913"/>
                    </a:cubicBezTo>
                    <a:lnTo>
                      <a:pt x="0" y="67610"/>
                    </a:lnTo>
                    <a:cubicBezTo>
                      <a:pt x="0" y="49678"/>
                      <a:pt x="7123" y="32482"/>
                      <a:pt x="19802" y="19802"/>
                    </a:cubicBezTo>
                    <a:cubicBezTo>
                      <a:pt x="32482" y="7123"/>
                      <a:pt x="49678" y="0"/>
                      <a:pt x="67610" y="0"/>
                    </a:cubicBezTo>
                    <a:close/>
                  </a:path>
                </a:pathLst>
              </a:custGeom>
              <a:solidFill>
                <a:srgbClr val="D8C59A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1538100" cy="306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422878" y="5683977"/>
              <a:ext cx="7721727" cy="1468282"/>
              <a:chOff x="0" y="0"/>
              <a:chExt cx="1525279" cy="29003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25279" cy="290031"/>
              </a:xfrm>
              <a:custGeom>
                <a:avLst/>
                <a:gdLst/>
                <a:ahLst/>
                <a:cxnLst/>
                <a:rect r="r" b="b" t="t" l="l"/>
                <a:pathLst>
                  <a:path h="290031" w="1525279">
                    <a:moveTo>
                      <a:pt x="68178" y="0"/>
                    </a:moveTo>
                    <a:lnTo>
                      <a:pt x="1457102" y="0"/>
                    </a:lnTo>
                    <a:cubicBezTo>
                      <a:pt x="1494755" y="0"/>
                      <a:pt x="1525279" y="30524"/>
                      <a:pt x="1525279" y="68178"/>
                    </a:cubicBezTo>
                    <a:lnTo>
                      <a:pt x="1525279" y="221853"/>
                    </a:lnTo>
                    <a:cubicBezTo>
                      <a:pt x="1525279" y="259507"/>
                      <a:pt x="1494755" y="290031"/>
                      <a:pt x="1457102" y="290031"/>
                    </a:cubicBezTo>
                    <a:lnTo>
                      <a:pt x="68178" y="290031"/>
                    </a:lnTo>
                    <a:cubicBezTo>
                      <a:pt x="30524" y="290031"/>
                      <a:pt x="0" y="259507"/>
                      <a:pt x="0" y="221853"/>
                    </a:cubicBezTo>
                    <a:lnTo>
                      <a:pt x="0" y="68178"/>
                    </a:lnTo>
                    <a:cubicBezTo>
                      <a:pt x="0" y="30524"/>
                      <a:pt x="30524" y="0"/>
                      <a:pt x="68178" y="0"/>
                    </a:cubicBezTo>
                    <a:close/>
                  </a:path>
                </a:pathLst>
              </a:custGeom>
              <a:solidFill>
                <a:srgbClr val="D8C59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1525279" cy="309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710255" y="7316040"/>
              <a:ext cx="7786631" cy="1468282"/>
              <a:chOff x="0" y="0"/>
              <a:chExt cx="1538100" cy="29003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38100" cy="290031"/>
              </a:xfrm>
              <a:custGeom>
                <a:avLst/>
                <a:gdLst/>
                <a:ahLst/>
                <a:cxnLst/>
                <a:rect r="r" b="b" t="t" l="l"/>
                <a:pathLst>
                  <a:path h="290031" w="1538100">
                    <a:moveTo>
                      <a:pt x="67610" y="0"/>
                    </a:moveTo>
                    <a:lnTo>
                      <a:pt x="1470490" y="0"/>
                    </a:lnTo>
                    <a:cubicBezTo>
                      <a:pt x="1507830" y="0"/>
                      <a:pt x="1538100" y="30270"/>
                      <a:pt x="1538100" y="67610"/>
                    </a:cubicBezTo>
                    <a:lnTo>
                      <a:pt x="1538100" y="222422"/>
                    </a:lnTo>
                    <a:cubicBezTo>
                      <a:pt x="1538100" y="240353"/>
                      <a:pt x="1530977" y="257549"/>
                      <a:pt x="1518298" y="270229"/>
                    </a:cubicBezTo>
                    <a:cubicBezTo>
                      <a:pt x="1505618" y="282908"/>
                      <a:pt x="1488422" y="290031"/>
                      <a:pt x="1470490" y="290031"/>
                    </a:cubicBezTo>
                    <a:lnTo>
                      <a:pt x="67610" y="290031"/>
                    </a:lnTo>
                    <a:cubicBezTo>
                      <a:pt x="30270" y="290031"/>
                      <a:pt x="0" y="259761"/>
                      <a:pt x="0" y="222422"/>
                    </a:cubicBezTo>
                    <a:lnTo>
                      <a:pt x="0" y="67610"/>
                    </a:lnTo>
                    <a:cubicBezTo>
                      <a:pt x="0" y="49678"/>
                      <a:pt x="7123" y="32482"/>
                      <a:pt x="19802" y="19802"/>
                    </a:cubicBezTo>
                    <a:cubicBezTo>
                      <a:pt x="32482" y="7123"/>
                      <a:pt x="49678" y="0"/>
                      <a:pt x="67610" y="0"/>
                    </a:cubicBezTo>
                    <a:close/>
                  </a:path>
                </a:pathLst>
              </a:custGeom>
              <a:solidFill>
                <a:srgbClr val="D8C59A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1538100" cy="309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6624148" y="958866"/>
              <a:ext cx="3748683" cy="412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3"/>
                </a:lnSpc>
                <a:spcBef>
                  <a:spcPct val="0"/>
                </a:spcBef>
              </a:pPr>
              <a:r>
                <a:rPr lang="en-US" b="true" sz="1985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CRITICAL CUE MISSED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342328" y="1438708"/>
              <a:ext cx="6802278" cy="621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2"/>
                </a:lnSpc>
                <a:spcBef>
                  <a:spcPct val="0"/>
                </a:spcBef>
              </a:pPr>
              <a:r>
                <a:rPr lang="en-US" sz="151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High-recall crisis rules trigger escalation and immediate human takeover when critical distress signals are detected.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987735" y="2601455"/>
              <a:ext cx="4592014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Noisy / Code-Mixed Speech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031933" y="3112630"/>
              <a:ext cx="6906666" cy="582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3"/>
                </a:lnSpc>
                <a:spcBef>
                  <a:spcPct val="0"/>
                </a:spcBef>
              </a:pPr>
              <a:r>
                <a:rPr lang="en-US" sz="1444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ASR c</a:t>
              </a:r>
              <a:r>
                <a:rPr lang="en-US" sz="1444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onfidence checks, text fallback, and human assessment handle noisy, accented, and mixed-language inputs.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6422082" y="4222980"/>
              <a:ext cx="372332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Bias</a:t>
              </a: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 / False Certainty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142797" y="4721455"/>
              <a:ext cx="7001809" cy="588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0"/>
                </a:lnSpc>
                <a:spcBef>
                  <a:spcPct val="0"/>
                </a:spcBef>
              </a:pPr>
              <a:r>
                <a:rPr lang="en-US" sz="14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Calibrated SVI, evidence-based scoring, uncertainty indicators, and human override reduce biased or unreliable assessments.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568604" y="5845316"/>
              <a:ext cx="543027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P</a:t>
              </a: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rivacy / Confidentiality Breach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5202432" y="6318391"/>
              <a:ext cx="6802278" cy="584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7"/>
                </a:lnSpc>
                <a:spcBef>
                  <a:spcPct val="0"/>
                </a:spcBef>
              </a:pPr>
              <a:r>
                <a:rPr lang="en-US" sz="1447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</a:t>
              </a:r>
              <a:r>
                <a:rPr lang="en-US" sz="1447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onsent, data minimisation, encryption, RBAC, retention controls, and audit logs protect sensitive case data.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118378" y="7469759"/>
              <a:ext cx="445829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Inte</a:t>
              </a:r>
              <a:r>
                <a:rPr lang="en-US" b="true" sz="1999" i="true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gration / Staff Adoption: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242562" y="7917434"/>
              <a:ext cx="6802278" cy="599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  <a:spcBef>
                  <a:spcPct val="0"/>
                </a:spcBef>
              </a:pPr>
              <a:r>
                <a:rPr lang="en-US" sz="1487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Adapte</a:t>
              </a:r>
              <a:r>
                <a:rPr lang="en-US" sz="1487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 APIs, sandbox testing, responder training, and clear override controls enable smooth workflow adoption.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354400" y="-19050"/>
              <a:ext cx="5791002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 THE IDEA IS VIABILE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-28575" y="9522619"/>
            <a:ext cx="18307050" cy="773906"/>
            <a:chOff x="0" y="0"/>
            <a:chExt cx="24409400" cy="10318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409400" cy="1031875"/>
            </a:xfrm>
            <a:custGeom>
              <a:avLst/>
              <a:gdLst/>
              <a:ahLst/>
              <a:cxnLst/>
              <a:rect r="r" b="b" t="t" l="l"/>
              <a:pathLst>
                <a:path h="1031875" w="24409400">
                  <a:moveTo>
                    <a:pt x="0" y="0"/>
                  </a:moveTo>
                  <a:lnTo>
                    <a:pt x="24409400" y="0"/>
                  </a:lnTo>
                  <a:lnTo>
                    <a:pt x="24409400" y="1031875"/>
                  </a:lnTo>
                  <a:lnTo>
                    <a:pt x="0" y="10318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17603" y="295904"/>
            <a:ext cx="2031895" cy="1375934"/>
            <a:chOff x="0" y="0"/>
            <a:chExt cx="2709193" cy="1834578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58051"/>
              <a:ext cx="2709193" cy="1634816"/>
              <a:chOff x="0" y="0"/>
              <a:chExt cx="2760005" cy="166547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759964" cy="1665478"/>
              </a:xfrm>
              <a:custGeom>
                <a:avLst/>
                <a:gdLst/>
                <a:ahLst/>
                <a:cxnLst/>
                <a:rect r="r" b="b" t="t" l="l"/>
                <a:pathLst>
                  <a:path h="1665478" w="2759964">
                    <a:moveTo>
                      <a:pt x="0" y="832739"/>
                    </a:moveTo>
                    <a:cubicBezTo>
                      <a:pt x="0" y="372872"/>
                      <a:pt x="617884" y="0"/>
                      <a:pt x="1379982" y="0"/>
                    </a:cubicBezTo>
                    <a:cubicBezTo>
                      <a:pt x="2142080" y="0"/>
                      <a:pt x="2759964" y="372872"/>
                      <a:pt x="2759964" y="832739"/>
                    </a:cubicBezTo>
                    <a:cubicBezTo>
                      <a:pt x="2759964" y="1292606"/>
                      <a:pt x="2142080" y="1665478"/>
                      <a:pt x="1379982" y="1665478"/>
                    </a:cubicBezTo>
                    <a:cubicBezTo>
                      <a:pt x="617884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586234" y="0"/>
              <a:ext cx="1536725" cy="1834578"/>
              <a:chOff x="0" y="0"/>
              <a:chExt cx="1536725" cy="183457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536720" cy="1834577"/>
              </a:xfrm>
              <a:custGeom>
                <a:avLst/>
                <a:gdLst/>
                <a:ahLst/>
                <a:cxnLst/>
                <a:rect r="r" b="b" t="t" l="l"/>
                <a:pathLst>
                  <a:path h="1834577" w="1536720">
                    <a:moveTo>
                      <a:pt x="0" y="0"/>
                    </a:moveTo>
                    <a:lnTo>
                      <a:pt x="1536720" y="0"/>
                    </a:lnTo>
                    <a:lnTo>
                      <a:pt x="1536720" y="1834577"/>
                    </a:lnTo>
                    <a:lnTo>
                      <a:pt x="0" y="183457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03172" t="0" r="-103172" b="0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1536725" cy="1891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ALT F4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14660392" y="112538"/>
            <a:ext cx="3424859" cy="1561690"/>
            <a:chOff x="0" y="0"/>
            <a:chExt cx="5095660" cy="232355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95646" cy="2323592"/>
            </a:xfrm>
            <a:custGeom>
              <a:avLst/>
              <a:gdLst/>
              <a:ahLst/>
              <a:cxnLst/>
              <a:rect r="r" b="b" t="t" l="l"/>
              <a:pathLst>
                <a:path h="2323592" w="5095646">
                  <a:moveTo>
                    <a:pt x="0" y="0"/>
                  </a:moveTo>
                  <a:lnTo>
                    <a:pt x="5095646" y="0"/>
                  </a:lnTo>
                  <a:lnTo>
                    <a:pt x="5095646" y="2323592"/>
                  </a:lnTo>
                  <a:lnTo>
                    <a:pt x="0" y="232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44" t="0" r="-444" b="0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6639134" y="1652588"/>
            <a:ext cx="47720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for Real-World Impact at Scale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355" y="9596914"/>
            <a:ext cx="4687891" cy="422910"/>
            <a:chOff x="0" y="0"/>
            <a:chExt cx="6250521" cy="563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0520" cy="563882"/>
            </a:xfrm>
            <a:custGeom>
              <a:avLst/>
              <a:gdLst/>
              <a:ahLst/>
              <a:cxnLst/>
              <a:rect r="r" b="b" t="t" l="l"/>
              <a:pathLst>
                <a:path h="563882" w="6250520">
                  <a:moveTo>
                    <a:pt x="0" y="0"/>
                  </a:moveTo>
                  <a:lnTo>
                    <a:pt x="6250520" y="0"/>
                  </a:lnTo>
                  <a:lnTo>
                    <a:pt x="6250520" y="563882"/>
                  </a:lnTo>
                  <a:lnTo>
                    <a:pt x="0" y="5638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987" r="0" b="-16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0521" cy="582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-80962"/>
            <a:ext cx="16478250" cy="1733550"/>
            <a:chOff x="0" y="0"/>
            <a:chExt cx="21971000" cy="231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1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971000">
                  <a:moveTo>
                    <a:pt x="0" y="0"/>
                  </a:moveTo>
                  <a:lnTo>
                    <a:pt x="21971000" y="0"/>
                  </a:lnTo>
                  <a:lnTo>
                    <a:pt x="219710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214" r="0" b="-1352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71000" cy="2339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271594" y="1855203"/>
            <a:ext cx="4611344" cy="1324458"/>
          </a:xfrm>
          <a:custGeom>
            <a:avLst/>
            <a:gdLst/>
            <a:ahLst/>
            <a:cxnLst/>
            <a:rect r="r" b="b" t="t" l="l"/>
            <a:pathLst>
              <a:path h="1324458" w="4611344">
                <a:moveTo>
                  <a:pt x="0" y="0"/>
                </a:moveTo>
                <a:lnTo>
                  <a:pt x="4611344" y="0"/>
                </a:lnTo>
                <a:lnTo>
                  <a:pt x="4611344" y="1324459"/>
                </a:lnTo>
                <a:lnTo>
                  <a:pt x="0" y="1324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01" t="-10001" r="-5704" b="-2454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63546" y="1745876"/>
            <a:ext cx="4467809" cy="1322927"/>
          </a:xfrm>
          <a:custGeom>
            <a:avLst/>
            <a:gdLst/>
            <a:ahLst/>
            <a:cxnLst/>
            <a:rect r="r" b="b" t="t" l="l"/>
            <a:pathLst>
              <a:path h="1322927" w="4467809">
                <a:moveTo>
                  <a:pt x="0" y="0"/>
                </a:moveTo>
                <a:lnTo>
                  <a:pt x="4467809" y="0"/>
                </a:lnTo>
                <a:lnTo>
                  <a:pt x="4467809" y="1322927"/>
                </a:lnTo>
                <a:lnTo>
                  <a:pt x="0" y="1322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66" t="-15123" r="-12383" b="-2688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17603" y="295904"/>
            <a:ext cx="2031895" cy="1375934"/>
            <a:chOff x="0" y="0"/>
            <a:chExt cx="2709193" cy="183457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58051"/>
              <a:ext cx="2709193" cy="1634816"/>
              <a:chOff x="0" y="0"/>
              <a:chExt cx="2760005" cy="166547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59964" cy="1665478"/>
              </a:xfrm>
              <a:custGeom>
                <a:avLst/>
                <a:gdLst/>
                <a:ahLst/>
                <a:cxnLst/>
                <a:rect r="r" b="b" t="t" l="l"/>
                <a:pathLst>
                  <a:path h="1665478" w="2759964">
                    <a:moveTo>
                      <a:pt x="0" y="832739"/>
                    </a:moveTo>
                    <a:cubicBezTo>
                      <a:pt x="0" y="372872"/>
                      <a:pt x="617884" y="0"/>
                      <a:pt x="1379982" y="0"/>
                    </a:cubicBezTo>
                    <a:cubicBezTo>
                      <a:pt x="2142080" y="0"/>
                      <a:pt x="2759964" y="372872"/>
                      <a:pt x="2759964" y="832739"/>
                    </a:cubicBezTo>
                    <a:cubicBezTo>
                      <a:pt x="2759964" y="1292606"/>
                      <a:pt x="2142080" y="1665478"/>
                      <a:pt x="1379982" y="1665478"/>
                    </a:cubicBezTo>
                    <a:cubicBezTo>
                      <a:pt x="617884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586234" y="0"/>
              <a:ext cx="1536725" cy="1834578"/>
              <a:chOff x="0" y="0"/>
              <a:chExt cx="1536725" cy="183457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536720" cy="1834577"/>
              </a:xfrm>
              <a:custGeom>
                <a:avLst/>
                <a:gdLst/>
                <a:ahLst/>
                <a:cxnLst/>
                <a:rect r="r" b="b" t="t" l="l"/>
                <a:pathLst>
                  <a:path h="1834577" w="1536720">
                    <a:moveTo>
                      <a:pt x="0" y="0"/>
                    </a:moveTo>
                    <a:lnTo>
                      <a:pt x="1536720" y="0"/>
                    </a:lnTo>
                    <a:lnTo>
                      <a:pt x="1536720" y="1834577"/>
                    </a:lnTo>
                    <a:lnTo>
                      <a:pt x="0" y="183457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03172" t="0" r="-103172" b="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1536725" cy="1891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ALT F4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4660392" y="112538"/>
            <a:ext cx="3424859" cy="1561690"/>
            <a:chOff x="0" y="0"/>
            <a:chExt cx="5095660" cy="23235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95646" cy="2323592"/>
            </a:xfrm>
            <a:custGeom>
              <a:avLst/>
              <a:gdLst/>
              <a:ahLst/>
              <a:cxnLst/>
              <a:rect r="r" b="b" t="t" l="l"/>
              <a:pathLst>
                <a:path h="2323592" w="5095646">
                  <a:moveTo>
                    <a:pt x="0" y="0"/>
                  </a:moveTo>
                  <a:lnTo>
                    <a:pt x="5095646" y="0"/>
                  </a:lnTo>
                  <a:lnTo>
                    <a:pt x="5095646" y="2323592"/>
                  </a:lnTo>
                  <a:lnTo>
                    <a:pt x="0" y="232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4" t="0" r="-444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06441" y="3049753"/>
            <a:ext cx="8726397" cy="6341617"/>
          </a:xfrm>
          <a:custGeom>
            <a:avLst/>
            <a:gdLst/>
            <a:ahLst/>
            <a:cxnLst/>
            <a:rect r="r" b="b" t="t" l="l"/>
            <a:pathLst>
              <a:path h="6341617" w="8726397">
                <a:moveTo>
                  <a:pt x="0" y="0"/>
                </a:moveTo>
                <a:lnTo>
                  <a:pt x="8726397" y="0"/>
                </a:lnTo>
                <a:lnTo>
                  <a:pt x="8726397" y="6341617"/>
                </a:lnTo>
                <a:lnTo>
                  <a:pt x="0" y="6341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75300" y="3236326"/>
            <a:ext cx="8644396" cy="5873222"/>
          </a:xfrm>
          <a:custGeom>
            <a:avLst/>
            <a:gdLst/>
            <a:ahLst/>
            <a:cxnLst/>
            <a:rect r="r" b="b" t="t" l="l"/>
            <a:pathLst>
              <a:path h="5873222" w="8644396">
                <a:moveTo>
                  <a:pt x="0" y="0"/>
                </a:moveTo>
                <a:lnTo>
                  <a:pt x="8644397" y="0"/>
                </a:lnTo>
                <a:lnTo>
                  <a:pt x="8644397" y="5873221"/>
                </a:lnTo>
                <a:lnTo>
                  <a:pt x="0" y="58732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56" t="0" r="-956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66841" y="613067"/>
            <a:ext cx="77543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b="true" sz="5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69942" y="1364875"/>
            <a:ext cx="69100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Safer people, Faster responsible, Smater administration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037" y="9185747"/>
            <a:ext cx="18113826" cy="1038035"/>
            <a:chOff x="0" y="0"/>
            <a:chExt cx="24409400" cy="13988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09400" cy="1398811"/>
            </a:xfrm>
            <a:custGeom>
              <a:avLst/>
              <a:gdLst/>
              <a:ahLst/>
              <a:cxnLst/>
              <a:rect r="r" b="b" t="t" l="l"/>
              <a:pathLst>
                <a:path h="1398811" w="24409400">
                  <a:moveTo>
                    <a:pt x="699406" y="0"/>
                  </a:moveTo>
                  <a:lnTo>
                    <a:pt x="23709995" y="0"/>
                  </a:lnTo>
                  <a:cubicBezTo>
                    <a:pt x="24096266" y="0"/>
                    <a:pt x="24409400" y="313135"/>
                    <a:pt x="24409400" y="699406"/>
                  </a:cubicBezTo>
                  <a:lnTo>
                    <a:pt x="24409400" y="699406"/>
                  </a:lnTo>
                  <a:cubicBezTo>
                    <a:pt x="24409400" y="1085677"/>
                    <a:pt x="24096266" y="1398811"/>
                    <a:pt x="23709995" y="1398811"/>
                  </a:cubicBezTo>
                  <a:lnTo>
                    <a:pt x="699406" y="1398811"/>
                  </a:lnTo>
                  <a:cubicBezTo>
                    <a:pt x="313135" y="1398811"/>
                    <a:pt x="0" y="1085677"/>
                    <a:pt x="0" y="699406"/>
                  </a:cubicBezTo>
                  <a:lnTo>
                    <a:pt x="0" y="699406"/>
                  </a:lnTo>
                  <a:cubicBezTo>
                    <a:pt x="0" y="313135"/>
                    <a:pt x="313135" y="0"/>
                    <a:pt x="6994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D8C59A"/>
              </a:solidFill>
              <a:prstDash val="solid"/>
              <a:round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698517" y="9458045"/>
            <a:ext cx="119919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u="sng">
                <a:solidFill>
                  <a:srgbClr val="1C5AF6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drive.google.com/file/d/1pg7v9idXMvwG45T0eTxJUNVCLzW4_er9/view?usp=sharing"/>
              </a:rPr>
              <a:t>https://drive.google.com/file/d/1pg7v9idXMvwG45T0eTxJUNVCLzW4_er9/view?usp=sharing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5022" y="9496145"/>
            <a:ext cx="50318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Paper about the AI Model :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355" y="9596914"/>
            <a:ext cx="4687891" cy="422910"/>
            <a:chOff x="0" y="0"/>
            <a:chExt cx="6250521" cy="563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0520" cy="563882"/>
            </a:xfrm>
            <a:custGeom>
              <a:avLst/>
              <a:gdLst/>
              <a:ahLst/>
              <a:cxnLst/>
              <a:rect r="r" b="b" t="t" l="l"/>
              <a:pathLst>
                <a:path h="563882" w="6250520">
                  <a:moveTo>
                    <a:pt x="0" y="0"/>
                  </a:moveTo>
                  <a:lnTo>
                    <a:pt x="6250520" y="0"/>
                  </a:lnTo>
                  <a:lnTo>
                    <a:pt x="6250520" y="563882"/>
                  </a:lnTo>
                  <a:lnTo>
                    <a:pt x="0" y="5638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987" r="0" b="-16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250521" cy="582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86287" y="1614846"/>
            <a:ext cx="8263613" cy="6871756"/>
          </a:xfrm>
          <a:custGeom>
            <a:avLst/>
            <a:gdLst/>
            <a:ahLst/>
            <a:cxnLst/>
            <a:rect r="r" b="b" t="t" l="l"/>
            <a:pathLst>
              <a:path h="6871756" w="8263613">
                <a:moveTo>
                  <a:pt x="0" y="0"/>
                </a:moveTo>
                <a:lnTo>
                  <a:pt x="8263613" y="0"/>
                </a:lnTo>
                <a:lnTo>
                  <a:pt x="8263613" y="6871756"/>
                </a:lnTo>
                <a:lnTo>
                  <a:pt x="0" y="687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280" t="-23272" r="-2021" b="-2845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18990" y="2599874"/>
            <a:ext cx="3416202" cy="265099"/>
            <a:chOff x="0" y="0"/>
            <a:chExt cx="899740" cy="69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9741" cy="69820"/>
            </a:xfrm>
            <a:custGeom>
              <a:avLst/>
              <a:gdLst/>
              <a:ahLst/>
              <a:cxnLst/>
              <a:rect r="r" b="b" t="t" l="l"/>
              <a:pathLst>
                <a:path h="69820" w="899741">
                  <a:moveTo>
                    <a:pt x="0" y="0"/>
                  </a:moveTo>
                  <a:lnTo>
                    <a:pt x="899741" y="0"/>
                  </a:lnTo>
                  <a:lnTo>
                    <a:pt x="899741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9974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18990" y="3348546"/>
            <a:ext cx="4825239" cy="265099"/>
            <a:chOff x="0" y="0"/>
            <a:chExt cx="1270845" cy="6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0845" cy="69820"/>
            </a:xfrm>
            <a:custGeom>
              <a:avLst/>
              <a:gdLst/>
              <a:ahLst/>
              <a:cxnLst/>
              <a:rect r="r" b="b" t="t" l="l"/>
              <a:pathLst>
                <a:path h="69820" w="1270845">
                  <a:moveTo>
                    <a:pt x="0" y="0"/>
                  </a:moveTo>
                  <a:lnTo>
                    <a:pt x="1270845" y="0"/>
                  </a:lnTo>
                  <a:lnTo>
                    <a:pt x="1270845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70845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34171" y="4099420"/>
            <a:ext cx="5024595" cy="265099"/>
            <a:chOff x="0" y="0"/>
            <a:chExt cx="1323350" cy="698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34171" y="4851895"/>
            <a:ext cx="5024595" cy="265099"/>
            <a:chOff x="0" y="0"/>
            <a:chExt cx="1323350" cy="698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34171" y="5612295"/>
            <a:ext cx="5024595" cy="265099"/>
            <a:chOff x="0" y="0"/>
            <a:chExt cx="1323350" cy="69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34171" y="6363169"/>
            <a:ext cx="5024595" cy="265099"/>
            <a:chOff x="0" y="0"/>
            <a:chExt cx="1323350" cy="69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34171" y="7114043"/>
            <a:ext cx="5024595" cy="265099"/>
            <a:chOff x="0" y="0"/>
            <a:chExt cx="1323350" cy="698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34171" y="8102269"/>
            <a:ext cx="5024595" cy="265099"/>
            <a:chOff x="0" y="0"/>
            <a:chExt cx="1323350" cy="698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3350" cy="69820"/>
            </a:xfrm>
            <a:custGeom>
              <a:avLst/>
              <a:gdLst/>
              <a:ahLst/>
              <a:cxnLst/>
              <a:rect r="r" b="b" t="t" l="l"/>
              <a:pathLst>
                <a:path h="69820" w="1323350">
                  <a:moveTo>
                    <a:pt x="0" y="0"/>
                  </a:moveTo>
                  <a:lnTo>
                    <a:pt x="1323350" y="0"/>
                  </a:lnTo>
                  <a:lnTo>
                    <a:pt x="1323350" y="69820"/>
                  </a:lnTo>
                  <a:lnTo>
                    <a:pt x="0" y="69820"/>
                  </a:lnTo>
                  <a:close/>
                </a:path>
              </a:pathLst>
            </a:custGeom>
            <a:solidFill>
              <a:srgbClr val="FEFDF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323350" cy="8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796653" y="0"/>
            <a:ext cx="3383180" cy="1529121"/>
          </a:xfrm>
          <a:custGeom>
            <a:avLst/>
            <a:gdLst/>
            <a:ahLst/>
            <a:cxnLst/>
            <a:rect r="r" b="b" t="t" l="l"/>
            <a:pathLst>
              <a:path h="1529121" w="3383180">
                <a:moveTo>
                  <a:pt x="0" y="0"/>
                </a:moveTo>
                <a:lnTo>
                  <a:pt x="3383180" y="0"/>
                </a:lnTo>
                <a:lnTo>
                  <a:pt x="3383180" y="1529121"/>
                </a:lnTo>
                <a:lnTo>
                  <a:pt x="0" y="1529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417603" y="295904"/>
            <a:ext cx="2031895" cy="1375934"/>
            <a:chOff x="0" y="0"/>
            <a:chExt cx="2709193" cy="183457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58051"/>
              <a:ext cx="2709193" cy="1634816"/>
              <a:chOff x="0" y="0"/>
              <a:chExt cx="2760005" cy="166547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759964" cy="1665478"/>
              </a:xfrm>
              <a:custGeom>
                <a:avLst/>
                <a:gdLst/>
                <a:ahLst/>
                <a:cxnLst/>
                <a:rect r="r" b="b" t="t" l="l"/>
                <a:pathLst>
                  <a:path h="1665478" w="2759964">
                    <a:moveTo>
                      <a:pt x="0" y="832739"/>
                    </a:moveTo>
                    <a:cubicBezTo>
                      <a:pt x="0" y="372872"/>
                      <a:pt x="617884" y="0"/>
                      <a:pt x="1379982" y="0"/>
                    </a:cubicBezTo>
                    <a:cubicBezTo>
                      <a:pt x="2142080" y="0"/>
                      <a:pt x="2759964" y="372872"/>
                      <a:pt x="2759964" y="832739"/>
                    </a:cubicBezTo>
                    <a:cubicBezTo>
                      <a:pt x="2759964" y="1292606"/>
                      <a:pt x="2142080" y="1665478"/>
                      <a:pt x="1379982" y="1665478"/>
                    </a:cubicBezTo>
                    <a:cubicBezTo>
                      <a:pt x="617884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586234" y="0"/>
              <a:ext cx="1536725" cy="1834578"/>
              <a:chOff x="0" y="0"/>
              <a:chExt cx="1536725" cy="183457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536720" cy="1834577"/>
              </a:xfrm>
              <a:custGeom>
                <a:avLst/>
                <a:gdLst/>
                <a:ahLst/>
                <a:cxnLst/>
                <a:rect r="r" b="b" t="t" l="l"/>
                <a:pathLst>
                  <a:path h="1834577" w="1536720">
                    <a:moveTo>
                      <a:pt x="0" y="0"/>
                    </a:moveTo>
                    <a:lnTo>
                      <a:pt x="1536720" y="0"/>
                    </a:lnTo>
                    <a:lnTo>
                      <a:pt x="1536720" y="1834577"/>
                    </a:lnTo>
                    <a:lnTo>
                      <a:pt x="0" y="183457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03172" t="0" r="-103172" b="0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536725" cy="1891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ALT F4</a:t>
                </a: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25509" y="8652649"/>
            <a:ext cx="18179833" cy="1624954"/>
          </a:xfrm>
          <a:custGeom>
            <a:avLst/>
            <a:gdLst/>
            <a:ahLst/>
            <a:cxnLst/>
            <a:rect r="r" b="b" t="t" l="l"/>
            <a:pathLst>
              <a:path h="1624954" w="18179833">
                <a:moveTo>
                  <a:pt x="0" y="0"/>
                </a:moveTo>
                <a:lnTo>
                  <a:pt x="18179832" y="0"/>
                </a:lnTo>
                <a:lnTo>
                  <a:pt x="18179832" y="1624954"/>
                </a:lnTo>
                <a:lnTo>
                  <a:pt x="0" y="1624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8437" r="0" b="-144958"/>
            </a:stretch>
          </a:blipFill>
        </p:spPr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415" y="1087800"/>
            <a:ext cx="10189630" cy="7140477"/>
          </a:xfrm>
          <a:prstGeom prst="rect">
            <a:avLst/>
          </a:prstGeom>
        </p:spPr>
      </p:pic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699035" y="4099420"/>
            <a:ext cx="2253617" cy="4459169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676" t="0" r="-8676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224646" y="2580824"/>
            <a:ext cx="34105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8" tooltip="https://doi.org/10.1016/j.jad.2024.07.015"/>
              </a:rPr>
              <a:t>https://doi.org/10.1016/j.jad.2024.07.015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24646" y="3329496"/>
            <a:ext cx="482834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9" tooltip="https://ijcert.org/index.php/ijcert/article/view/978/861?utm_source=chatgpt.com"/>
              </a:rPr>
              <a:t>https://www.ijcert.org/index.php/ijcert/article/view/978/861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34171" y="4080370"/>
            <a:ext cx="48837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0" tooltip="https://pib.gov.in/Pressreleaseshare.aspx?PRID=1780741"/>
              </a:rPr>
              <a:t>https://pib.gov.in/Pressreleaseshare.aspx?PRID=1780741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34171" y="4831245"/>
            <a:ext cx="226432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1" tooltip="https://www.meity.gov.in"/>
              </a:rPr>
              <a:t>https://www.meity.gov.in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234171" y="5629744"/>
            <a:ext cx="27076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2" tooltip="https://arxiv.org/abs/2103.10730"/>
              </a:rPr>
              <a:t>https://arxiv.org/abs/2103.10730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34171" y="6344119"/>
            <a:ext cx="415063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3" tooltip="https://github.com/AI4Bharat/IndicConformerASR"/>
              </a:rPr>
              <a:t>https://github.com/AI4Bharat/IndicConformerASR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34171" y="7094993"/>
            <a:ext cx="370558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4" tooltip="https://github.com/SYSTRAN/faster-whisper"/>
              </a:rPr>
              <a:t>https://github.com/SYSTRAN/faster-whisper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49888" y="8073694"/>
            <a:ext cx="338530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u="sng">
                <a:solidFill>
                  <a:srgbClr val="1C5AF6"/>
                </a:solidFill>
                <a:latin typeface="Arimo"/>
                <a:ea typeface="Arimo"/>
                <a:cs typeface="Arimo"/>
                <a:sym typeface="Arimo"/>
                <a:hlinkClick r:id="rId15" tooltip="https://aclanthology.org/2022.lrec-1.627/"/>
              </a:rPr>
              <a:t>https://aclanthology.org/2022.lrec-1.627/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32917" y="424221"/>
            <a:ext cx="1002327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b="true" sz="5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DAHU0wf_An8</dc:identifier>
  <dcterms:modified xsi:type="dcterms:W3CDTF">2011-08-01T06:04:30Z</dcterms:modified>
  <cp:revision>1</cp:revision>
  <dc:title>SIH2026.pptx</dc:title>
</cp:coreProperties>
</file>